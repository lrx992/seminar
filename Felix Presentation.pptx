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16"/>
  </p:notesMasterIdLst>
  <p:handoutMasterIdLst>
    <p:handoutMasterId r:id="rId17"/>
  </p:handoutMasterIdLst>
  <p:sldIdLst>
    <p:sldId id="268" r:id="rId2"/>
    <p:sldId id="280" r:id="rId3"/>
    <p:sldId id="279" r:id="rId4"/>
    <p:sldId id="270" r:id="rId5"/>
    <p:sldId id="272" r:id="rId6"/>
    <p:sldId id="273" r:id="rId7"/>
    <p:sldId id="274" r:id="rId8"/>
    <p:sldId id="277" r:id="rId9"/>
    <p:sldId id="278" r:id="rId10"/>
    <p:sldId id="275" r:id="rId11"/>
    <p:sldId id="282" r:id="rId12"/>
    <p:sldId id="269" r:id="rId13"/>
    <p:sldId id="276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7" autoAdjust="0"/>
    <p:restoredTop sz="96327" autoAdjust="0"/>
  </p:normalViewPr>
  <p:slideViewPr>
    <p:cSldViewPr snapToGrid="0" showGuides="1">
      <p:cViewPr>
        <p:scale>
          <a:sx n="110" d="100"/>
          <a:sy n="110" d="100"/>
        </p:scale>
        <p:origin x="544" y="568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68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dirty="0"/>
              <a:t>Notes:</a:t>
            </a:r>
          </a:p>
          <a:p>
            <a:r>
              <a:rPr lang="en-GB" dirty="0"/>
              <a:t>Sources: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78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hyperlink" Target="https://designguide.ku.dk/skabeloner/powerpoint/praesentationer/" TargetMode="External"/><Relationship Id="rId4" Type="http://schemas.openxmlformats.org/officeDocument/2006/relationships/hyperlink" Target="https://image.ku.dk/shared/aZwD18034DnM3TYEw9XagEF6kxI6MLkV" TargetMode="External"/><Relationship Id="rId9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0" name="Titel 2">
            <a:extLst>
              <a:ext uri="{FF2B5EF4-FFF2-40B4-BE49-F238E27FC236}">
                <a16:creationId xmlns:a16="http://schemas.microsoft.com/office/drawing/2014/main" id="{916BA171-A8D6-BD97-B474-75F02EF18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  <a:br>
              <a:rPr lang="en-GB" dirty="0"/>
            </a:br>
            <a:endParaRPr lang="en-GB" dirty="0"/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4F7F37-C978-4070-A8C9-9984E7C2ABE6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al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1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11" name="Titel 2">
            <a:extLst>
              <a:ext uri="{FF2B5EF4-FFF2-40B4-BE49-F238E27FC236}">
                <a16:creationId xmlns:a16="http://schemas.microsoft.com/office/drawing/2014/main" id="{F3CC8A4E-DD42-3359-871D-7365133722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1282B6A-0E05-4999-B083-B58431580830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A35AA5B6-111C-4735-AFC4-EBC2CB1BF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ECB2203-00D5-4F87-8F9D-D0B17AC42B67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   </a:t>
            </a:r>
          </a:p>
        </p:txBody>
      </p:sp>
      <p:sp>
        <p:nvSpPr>
          <p:cNvPr id="17" name="Titel 2">
            <a:extLst>
              <a:ext uri="{FF2B5EF4-FFF2-40B4-BE49-F238E27FC236}">
                <a16:creationId xmlns:a16="http://schemas.microsoft.com/office/drawing/2014/main" id="{5841F5BD-07B0-188F-6A65-1A9CB9107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700EDC7-A33F-4ACB-87EF-882B537199F0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A98E7E85-8DE3-687D-4837-DB9872BFC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GB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732F916-FBB8-40A8-BEA6-3A387B65F474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 Click icon to insert image</a:t>
            </a:r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92A049D1-BE16-6369-9C11-6D9136DAE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GB" dirty="0"/>
              <a:t>Name of speaker, UCPH unit, place and date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C2548D2-4180-4C59-97F2-D3D2E14098F1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endParaRPr lang="en-GB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4B30B-D853-4AE6-9B99-718FF91CCB22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EA36-139A-4E3F-B6A0-7BD657AD45E8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7CCA8-EEC6-4184-AB5B-DDB10B05E1AF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2672-5B44-4DB0-8EDF-4BB4CF579FA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E3466E77-7984-4F3B-92EF-834A85591B11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bullet li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marL="363600" marR="0" lvl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Click to add text</a:t>
            </a:r>
          </a:p>
          <a:p>
            <a:pPr lvl="1"/>
            <a:r>
              <a:rPr lang="en-GB" dirty="0"/>
              <a:t>2</a:t>
            </a:r>
          </a:p>
          <a:p>
            <a:pPr lvl="2"/>
            <a:r>
              <a:rPr lang="en-GB" dirty="0"/>
              <a:t>3</a:t>
            </a:r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E691-BE0D-4934-9C30-12FC42105A2C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25972C5-CAD7-9DDE-E435-19581171941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ne bullet 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ABE37-F289-4BB8-B1E0-101EB4AC95E3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Name, source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4BC4-6516-49EF-A62A-EB81A07AF391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15D5-9A7E-477A-A544-9723531FD0F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en-GB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240AC-C468-4DBB-AF86-AC5724FDA50F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68BAA3-AF98-A946-16EB-29ED74D4E93C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text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47F2-18C7-4623-927B-09989FC5CA4D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en-GB" dirty="0"/>
              <a:t>...click to add text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4B0C9B8-9199-DB66-C3E1-5BCBE19EE6D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25BB6-14D6-4C5D-A392-87B2F024F171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GB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102B45B-BE10-0955-7D2B-71607E79FE0D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EE70-9EF6-4011-9FEC-8E4C1B37B6E7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0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                      to insert image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98F8-8127-4186-B6E0-5A9DB8590659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0C55F-A06C-4D12-9FE7-11486C7072EC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065828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73FB4-74ED-479B-AC3F-D58B1D2996E2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BC22F958-FB17-66E4-EB45-75E15E5E3F8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56FC0-1C68-46A1-95BA-D879D9D7980D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6BCCAFF-7E95-0536-8297-4959B0CA01D7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065828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EE2D-5BB7-4858-806B-E9B8121B6310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DA49A202-D2D5-25B6-2F32-60A741CCF725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bg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869E-E124-4C9B-86F5-EB1AF46F875F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342F60A0-C020-A529-4A95-65C8AC9FA2C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en-GB" dirty="0"/>
              <a:t>Click icon to insert image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         text...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CFB06-9E5C-4DC0-BDE6-1E991C758329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AC6CF46-91DC-976D-9F2D-0F1B85D185F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bg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bg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and commen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11D8F-85B9-4001-AF63-8B6D3CD2CF9F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GB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text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Highlight words </a:t>
            </a:r>
            <a:r>
              <a:rPr lang="en-GB" sz="1400" b="0" dirty="0">
                <a:solidFill>
                  <a:schemeClr val="tx1"/>
                </a:solidFill>
                <a:latin typeface="Microsoft New Tai Lue"/>
              </a:rPr>
              <a:t>in headline using </a:t>
            </a:r>
            <a:r>
              <a:rPr lang="en-GB" sz="1400" b="1" dirty="0">
                <a:solidFill>
                  <a:schemeClr val="tx1"/>
                </a:solidFill>
                <a:latin typeface="Microsoft New Tai Lue"/>
              </a:rPr>
              <a:t>bold   </a:t>
            </a:r>
            <a:endParaRPr lang="en-GB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622F690-D5D4-4852-B56B-61A8F1BA2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4A88-BF4A-BF39-B835-B0C753B4C19A}"/>
              </a:ext>
            </a:extLst>
          </p:cNvPr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sz="3000" dirty="0">
                <a:solidFill>
                  <a:schemeClr val="tx1"/>
                </a:solidFill>
              </a:rPr>
              <a:t>User guide </a:t>
            </a:r>
            <a:r>
              <a:rPr lang="en-GB" sz="1800" dirty="0">
                <a:solidFill>
                  <a:schemeClr val="tx1"/>
                </a:solidFill>
              </a:rPr>
              <a:t>– delete before use</a:t>
            </a:r>
          </a:p>
        </p:txBody>
      </p:sp>
      <p:sp>
        <p:nvSpPr>
          <p:cNvPr id="18" name="Text Box 48">
            <a:extLst>
              <a:ext uri="{FF2B5EF4-FFF2-40B4-BE49-F238E27FC236}">
                <a16:creationId xmlns:a16="http://schemas.microsoft.com/office/drawing/2014/main" id="{91151374-92CC-87E1-F9AB-1D43CA0CBE4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7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PowerPoint templates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open PowerPoint on your UCPH computer, </a:t>
            </a:r>
            <a:r>
              <a:rPr lang="en-GB" sz="800" kern="1200" dirty="0">
                <a:solidFill>
                  <a:schemeClr val="tx1"/>
                </a:solidFill>
                <a:effectLst/>
                <a:latin typeface="Arial" charset="0"/>
                <a:ea typeface="Calibri" panose="020F0502020204030204" pitchFamily="34" charset="0"/>
                <a:cs typeface="Times New Roman" panose="02020603050405020304" pitchFamily="18" charset="0"/>
              </a:rPr>
              <a:t>PowerPoint opens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 template in 16:9 format with an English UCPH logo.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When you click on the UCPH tab in the toolbar, click "Select Template" to choose between templates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Danish and English 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16:9 format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 "full" or “small" versions (in the full version there is an example of each slide type in the left-hand window)</a:t>
            </a:r>
          </a:p>
          <a:p>
            <a:pPr marL="88900" indent="-88900" eaLnBrk="1" hangingPunct="1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as well as an example slide with text in English.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If you use a 'full' version, you must delete the slides you do not want to use.</a:t>
            </a: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 users and others can download PowerPoint templates at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www.designguide.ku.dk/skabeloner/powerpoint/praesentationer/</a:t>
            </a:r>
            <a:endParaRPr lang="en-GB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Box 48">
            <a:extLst>
              <a:ext uri="{FF2B5EF4-FFF2-40B4-BE49-F238E27FC236}">
                <a16:creationId xmlns:a16="http://schemas.microsoft.com/office/drawing/2014/main" id="{CC1000A9-67B6-3DBE-1556-907DFA8F39D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966227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your unit name (e.g. your department), page numbers and the date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Click on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in the top menu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Header and Footer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Fill in the fields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to all 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GB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Apply</a:t>
            </a: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if it is only to be used on a single 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GB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The information goes on the right-hand side of the page in the grey top bar.</a:t>
            </a:r>
          </a:p>
        </p:txBody>
      </p:sp>
      <p:sp>
        <p:nvSpPr>
          <p:cNvPr id="30" name="Text Box 48">
            <a:extLst>
              <a:ext uri="{FF2B5EF4-FFF2-40B4-BE49-F238E27FC236}">
                <a16:creationId xmlns:a16="http://schemas.microsoft.com/office/drawing/2014/main" id="{57AF5228-50BD-AF36-C290-EB6F54DA4A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7375" y="5688880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new slide (2010 + 2013 and 2016 version) 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</p:txBody>
      </p:sp>
      <p:pic>
        <p:nvPicPr>
          <p:cNvPr id="32" name="Billede 40">
            <a:extLst>
              <a:ext uri="{FF2B5EF4-FFF2-40B4-BE49-F238E27FC236}">
                <a16:creationId xmlns:a16="http://schemas.microsoft.com/office/drawing/2014/main" id="{47DEC83E-2557-C64A-8710-5E90C5500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896656"/>
            <a:ext cx="395416" cy="126627"/>
          </a:xfrm>
          <a:prstGeom prst="rect">
            <a:avLst/>
          </a:prstGeom>
        </p:spPr>
      </p:pic>
      <p:sp>
        <p:nvSpPr>
          <p:cNvPr id="34" name="Text Box 48">
            <a:extLst>
              <a:ext uri="{FF2B5EF4-FFF2-40B4-BE49-F238E27FC236}">
                <a16:creationId xmlns:a16="http://schemas.microsoft.com/office/drawing/2014/main" id="{296B2A40-51DD-3C24-64B4-9C261EFED2F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2582327"/>
            <a:ext cx="1624241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Replace slide type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the layout of your current slide.</a:t>
            </a:r>
          </a:p>
        </p:txBody>
      </p:sp>
      <p:sp>
        <p:nvSpPr>
          <p:cNvPr id="36" name="Text Box 48">
            <a:extLst>
              <a:ext uri="{FF2B5EF4-FFF2-40B4-BE49-F238E27FC236}">
                <a16:creationId xmlns:a16="http://schemas.microsoft.com/office/drawing/2014/main" id="{26A5352B-2D88-0049-FF68-7A3677982A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3315092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Font</a:t>
            </a:r>
            <a:br>
              <a:rPr lang="en-GB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UCPH uses the font Microsoft New Tai Lue in PowerPoint.</a:t>
            </a:r>
            <a:endParaRPr lang="en-GB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F1FD1FCB-14AB-C8C8-E3B6-3A9C235434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Gridliness and Guides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see gridlines and guides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Click on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View</a:t>
            </a:r>
          </a:p>
          <a:p>
            <a:pPr marL="0" indent="0" eaLnBrk="1" hangingPunct="1">
              <a:lnSpc>
                <a:spcPct val="90000"/>
              </a:lnSpc>
              <a:spcAft>
                <a:spcPts val="600"/>
              </a:spcAft>
              <a:buNone/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Gridlines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and/or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establish additional gridlines and guides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Hover the mouse over an existing gridline and click on the line (coordinates of the line are displayed)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down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 key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while you move the location of the line (adds a new line).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Press Alt + F9 for a rapid display of gridlines</a:t>
            </a:r>
          </a:p>
        </p:txBody>
      </p:sp>
      <p:sp>
        <p:nvSpPr>
          <p:cNvPr id="40" name="Text Box 48">
            <a:extLst>
              <a:ext uri="{FF2B5EF4-FFF2-40B4-BE49-F238E27FC236}">
                <a16:creationId xmlns:a16="http://schemas.microsoft.com/office/drawing/2014/main" id="{C4D76095-C685-6F22-B51D-0AFAF348C4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214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 picture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On layouts with picture placeholders: Click the icon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Insert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text  ”Clik here to insert image” will not be visible in presentation mode.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find UCPH-images, which are adapted to and minimised to 16:9 format via this link: </a:t>
            </a:r>
            <a:b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https://image.ku.dk/shared/aZwD18034DnM3TYEw9XagEF6kxI6MLkV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Select slide show-view to activate the link.</a:t>
            </a:r>
          </a:p>
        </p:txBody>
      </p:sp>
      <p:sp>
        <p:nvSpPr>
          <p:cNvPr id="42" name="Text Box 48">
            <a:extLst>
              <a:ext uri="{FF2B5EF4-FFF2-40B4-BE49-F238E27FC236}">
                <a16:creationId xmlns:a16="http://schemas.microsoft.com/office/drawing/2014/main" id="{449B76C2-6958-26C2-DD52-28127622EE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Image sizes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The optimal picture size is: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Save the images in 72 dpi and in "jpg medium quality"</a:t>
            </a:r>
          </a:p>
        </p:txBody>
      </p:sp>
      <p:sp>
        <p:nvSpPr>
          <p:cNvPr id="44" name="Text Box 48">
            <a:extLst>
              <a:ext uri="{FF2B5EF4-FFF2-40B4-BE49-F238E27FC236}">
                <a16:creationId xmlns:a16="http://schemas.microsoft.com/office/drawing/2014/main" id="{B1B679C7-F81E-AF72-3832-BC2B20AF81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Trimming pictures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Click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Crop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 change the image focus/size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want to scale the picture, hold the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button down while dragging in the image corners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picture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If you delete the picture and inserts a new, the picture may be in front of text and graphics. If this happens, you must select the image, right-click and select </a:t>
            </a:r>
            <a:r>
              <a:rPr lang="en-GB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DBC859E9-AAD9-582D-9CAB-53B97A96B2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99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Template colors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You can choose between a range of colors for backgrounds and graphs.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Right-click on the surface of which you want to change the color and then click on the paint can icon</a:t>
            </a:r>
          </a:p>
        </p:txBody>
      </p:sp>
      <p:sp>
        <p:nvSpPr>
          <p:cNvPr id="48" name="Text Box 48">
            <a:extLst>
              <a:ext uri="{FF2B5EF4-FFF2-40B4-BE49-F238E27FC236}">
                <a16:creationId xmlns:a16="http://schemas.microsoft.com/office/drawing/2014/main" id="{5BDA7DE1-7BD9-6953-4F2C-C23FAB665D3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Further information</a:t>
            </a:r>
            <a:br>
              <a:rPr lang="en-GB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See</a:t>
            </a:r>
            <a: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br>
              <a:rPr lang="en-GB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www.designguide.ku.dk/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skabeloner/powerpoint/</a:t>
            </a:r>
            <a:b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praesentationer/</a:t>
            </a:r>
            <a:endParaRPr lang="en-GB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0" name="Billede 25">
            <a:extLst>
              <a:ext uri="{FF2B5EF4-FFF2-40B4-BE49-F238E27FC236}">
                <a16:creationId xmlns:a16="http://schemas.microsoft.com/office/drawing/2014/main" id="{2BC7410A-935F-DC4A-F8A5-7F39AC457C1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52" name="Billede 36">
            <a:extLst>
              <a:ext uri="{FF2B5EF4-FFF2-40B4-BE49-F238E27FC236}">
                <a16:creationId xmlns:a16="http://schemas.microsoft.com/office/drawing/2014/main" id="{56A21FCA-F356-F238-3DEE-A13BEFECD37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54" name="Billede 37">
            <a:extLst>
              <a:ext uri="{FF2B5EF4-FFF2-40B4-BE49-F238E27FC236}">
                <a16:creationId xmlns:a16="http://schemas.microsoft.com/office/drawing/2014/main" id="{8288A8D2-A953-FCF5-C54C-BED0258209D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56" name="Text Box 48">
            <a:extLst>
              <a:ext uri="{FF2B5EF4-FFF2-40B4-BE49-F238E27FC236}">
                <a16:creationId xmlns:a16="http://schemas.microsoft.com/office/drawing/2014/main" id="{1AAEA91B-6C9C-9157-EFF5-6EEB67507A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0384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the </a:t>
            </a:r>
            <a:r>
              <a:rPr lang="en-GB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Click on the top part of the button to create a slide identical to the one selected. Click on the bottom part of the button to see a selection of possible layout choices</a:t>
            </a:r>
            <a:endParaRPr lang="en-GB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8" name="Picture 61">
            <a:extLst>
              <a:ext uri="{FF2B5EF4-FFF2-40B4-BE49-F238E27FC236}">
                <a16:creationId xmlns:a16="http://schemas.microsoft.com/office/drawing/2014/main" id="{874C9D93-430E-897F-0010-953653748BC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4271879" y="1743737"/>
            <a:ext cx="243186" cy="43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 err="1"/>
              <a:t>Klik</a:t>
            </a:r>
            <a:r>
              <a:rPr lang="en-GB" dirty="0"/>
              <a:t> for at </a:t>
            </a:r>
            <a:r>
              <a:rPr lang="en-GB" dirty="0" err="1"/>
              <a:t>redigere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master</a:t>
            </a:r>
          </a:p>
          <a:p>
            <a:pPr lvl="1"/>
            <a:r>
              <a:rPr lang="en-GB" dirty="0" err="1"/>
              <a:t>Andet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Tredje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/>
              <a:t>4</a:t>
            </a:r>
          </a:p>
          <a:p>
            <a:pPr lvl="4"/>
            <a:r>
              <a:rPr lang="en-GB" dirty="0"/>
              <a:t>5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r>
              <a:rPr lang="en-GB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91A926C-488A-4E3E-9C21-57CAA120E114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</a:defRPr>
            </a:lvl1pPr>
          </a:lstStyle>
          <a:p>
            <a:fld id="{0FFE5DD6-2126-4C5A-ADA9-CF5BE748E714}" type="datetime1">
              <a:rPr lang="en-GB" smtClean="0"/>
              <a:t>26/11/2025</a:t>
            </a:fld>
            <a:endParaRPr lang="en-GB" dirty="0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2B48C9BE-CCF6-3266-2B8E-D27C7F011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13" name="Picture 27">
            <a:extLst>
              <a:ext uri="{FF2B5EF4-FFF2-40B4-BE49-F238E27FC236}">
                <a16:creationId xmlns:a16="http://schemas.microsoft.com/office/drawing/2014/main" id="{863DD73D-5725-327E-8366-645E99E26ECD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94" y="96467"/>
            <a:ext cx="2332648" cy="15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+mj-lt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+mn-lt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C3C92B5-C4EE-4103-D53D-3296981D0C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ladsholder til tekst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Felix Pettersson	</a:t>
            </a:r>
          </a:p>
          <a:p>
            <a:r>
              <a:rPr lang="en-GB" dirty="0"/>
              <a:t>30.11.2025</a:t>
            </a:r>
          </a:p>
        </p:txBody>
      </p:sp>
      <p:sp>
        <p:nvSpPr>
          <p:cNvPr id="5" name="U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Seminar: Econometric Models in Financial Applications</a:t>
            </a:r>
          </a:p>
          <a:p>
            <a:endParaRPr lang="en-GB" dirty="0"/>
          </a:p>
        </p:txBody>
      </p:sp>
      <p:sp>
        <p:nvSpPr>
          <p:cNvPr id="7" name="Pladsholder til tekst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/>
              <a:t>Volatility clustering and dynamic trading</a:t>
            </a:r>
          </a:p>
          <a:p>
            <a:endParaRPr lang="en-GB" dirty="0"/>
          </a:p>
        </p:txBody>
      </p:sp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B423-B1F5-44A2-AA8A-3E845B5DF7D7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Unit name (Insert&gt;Header and Footer)</a:t>
            </a:r>
          </a:p>
        </p:txBody>
      </p:sp>
      <p:sp>
        <p:nvSpPr>
          <p:cNvPr id="3" name="Pladsholder til diasnumm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115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5B461-3087-44F1-1B1E-1F675D9C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Introduction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1D063E0-73F5-DBC8-B5B7-542C29AD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a-DK" sz="1800" dirty="0"/>
              <a:t>Returns </a:t>
            </a:r>
            <a:r>
              <a:rPr lang="da-DK" sz="1800" dirty="0" err="1"/>
              <a:t>often</a:t>
            </a:r>
            <a:r>
              <a:rPr lang="da-DK" sz="1800" dirty="0"/>
              <a:t> </a:t>
            </a:r>
            <a:r>
              <a:rPr lang="da-DK" sz="1800" dirty="0" err="1"/>
              <a:t>exhibit</a:t>
            </a:r>
            <a:r>
              <a:rPr lang="da-DK" sz="1800" dirty="0"/>
              <a:t> non-</a:t>
            </a:r>
            <a:r>
              <a:rPr lang="da-DK" sz="1800" dirty="0" err="1"/>
              <a:t>stationarity</a:t>
            </a:r>
            <a:r>
              <a:rPr lang="da-DK" sz="1800" dirty="0"/>
              <a:t> and </a:t>
            </a:r>
            <a:r>
              <a:rPr lang="da-DK" sz="1800" dirty="0" err="1"/>
              <a:t>volatility</a:t>
            </a:r>
            <a:r>
              <a:rPr lang="da-DK" sz="1800" dirty="0"/>
              <a:t> clusters</a:t>
            </a:r>
          </a:p>
          <a:p>
            <a:pPr lvl="1">
              <a:lnSpc>
                <a:spcPct val="150000"/>
              </a:lnSpc>
            </a:pPr>
            <a:r>
              <a:rPr lang="da-DK" sz="1800" dirty="0"/>
              <a:t>Can </a:t>
            </a:r>
            <a:r>
              <a:rPr lang="da-DK" sz="1800" dirty="0" err="1"/>
              <a:t>be</a:t>
            </a:r>
            <a:r>
              <a:rPr lang="da-DK" sz="1800" dirty="0"/>
              <a:t> </a:t>
            </a:r>
            <a:r>
              <a:rPr lang="da-DK" sz="1800" dirty="0" err="1"/>
              <a:t>interpreted</a:t>
            </a:r>
            <a:r>
              <a:rPr lang="da-DK" sz="1800" dirty="0"/>
              <a:t> as regimes</a:t>
            </a:r>
          </a:p>
          <a:p>
            <a:pPr>
              <a:lnSpc>
                <a:spcPct val="150000"/>
              </a:lnSpc>
            </a:pPr>
            <a:r>
              <a:rPr lang="da-DK" sz="1800" dirty="0"/>
              <a:t>Regime-</a:t>
            </a:r>
            <a:r>
              <a:rPr lang="da-DK" sz="1800" dirty="0" err="1"/>
              <a:t>switching</a:t>
            </a:r>
            <a:r>
              <a:rPr lang="da-DK" sz="1800" dirty="0"/>
              <a:t> models </a:t>
            </a:r>
            <a:r>
              <a:rPr lang="da-DK" sz="1800" dirty="0" err="1"/>
              <a:t>are</a:t>
            </a:r>
            <a:r>
              <a:rPr lang="da-DK" sz="1800" dirty="0"/>
              <a:t> </a:t>
            </a:r>
            <a:r>
              <a:rPr lang="da-DK" sz="1800" dirty="0" err="1"/>
              <a:t>nothing</a:t>
            </a:r>
            <a:r>
              <a:rPr lang="da-DK" sz="1800" dirty="0"/>
              <a:t> new in the </a:t>
            </a:r>
            <a:r>
              <a:rPr lang="da-DK" sz="1800" dirty="0" err="1"/>
              <a:t>literature</a:t>
            </a:r>
            <a:r>
              <a:rPr lang="da-DK" sz="1800" dirty="0"/>
              <a:t> (MS-GARCH, HMM, and more)</a:t>
            </a:r>
          </a:p>
          <a:p>
            <a:pPr>
              <a:lnSpc>
                <a:spcPct val="150000"/>
              </a:lnSpc>
            </a:pPr>
            <a:r>
              <a:rPr lang="da-DK" sz="1800" dirty="0"/>
              <a:t>All have </a:t>
            </a:r>
            <a:r>
              <a:rPr lang="da-DK" sz="1800" dirty="0" err="1"/>
              <a:t>parametric</a:t>
            </a:r>
            <a:r>
              <a:rPr lang="da-DK" sz="1800" dirty="0"/>
              <a:t> </a:t>
            </a:r>
            <a:r>
              <a:rPr lang="da-DK" sz="1800" dirty="0" err="1"/>
              <a:t>restrictions</a:t>
            </a:r>
            <a:r>
              <a:rPr lang="da-DK" sz="1800" dirty="0"/>
              <a:t> and </a:t>
            </a:r>
            <a:r>
              <a:rPr lang="da-DK" sz="1800" dirty="0" err="1"/>
              <a:t>require</a:t>
            </a:r>
            <a:r>
              <a:rPr lang="da-DK" sz="1800" dirty="0"/>
              <a:t> </a:t>
            </a:r>
            <a:r>
              <a:rPr lang="da-DK" sz="1800" dirty="0" err="1"/>
              <a:t>pre-specification</a:t>
            </a:r>
            <a:r>
              <a:rPr lang="da-DK" sz="1800" dirty="0"/>
              <a:t> of </a:t>
            </a:r>
            <a:r>
              <a:rPr lang="da-DK" sz="1800" dirty="0" err="1"/>
              <a:t>number</a:t>
            </a:r>
            <a:r>
              <a:rPr lang="da-DK" sz="1800" dirty="0"/>
              <a:t> of regimes</a:t>
            </a:r>
          </a:p>
          <a:p>
            <a:pPr>
              <a:lnSpc>
                <a:spcPct val="150000"/>
              </a:lnSpc>
            </a:pPr>
            <a:r>
              <a:rPr lang="da-DK" sz="1800" dirty="0"/>
              <a:t>I test a </a:t>
            </a:r>
            <a:r>
              <a:rPr lang="da-DK" sz="1800" dirty="0" err="1"/>
              <a:t>method</a:t>
            </a:r>
            <a:r>
              <a:rPr lang="da-DK" sz="1800" dirty="0"/>
              <a:t> (or ”framework”) </a:t>
            </a:r>
            <a:r>
              <a:rPr lang="da-DK" sz="1800" dirty="0" err="1"/>
              <a:t>that</a:t>
            </a:r>
            <a:r>
              <a:rPr lang="da-DK" sz="1800" dirty="0"/>
              <a:t> </a:t>
            </a:r>
            <a:r>
              <a:rPr lang="da-DK" sz="1800" dirty="0" err="1"/>
              <a:t>uses</a:t>
            </a:r>
            <a:r>
              <a:rPr lang="da-DK" sz="1800" dirty="0"/>
              <a:t> </a:t>
            </a:r>
            <a:r>
              <a:rPr lang="da-DK" sz="1800" dirty="0" err="1"/>
              <a:t>unsupervised</a:t>
            </a:r>
            <a:r>
              <a:rPr lang="da-DK" sz="1800" dirty="0"/>
              <a:t> learning</a:t>
            </a:r>
          </a:p>
          <a:p>
            <a:pPr lvl="1">
              <a:lnSpc>
                <a:spcPct val="150000"/>
              </a:lnSpc>
            </a:pPr>
            <a:r>
              <a:rPr lang="da-DK" sz="1800" dirty="0" err="1"/>
              <a:t>Classification</a:t>
            </a:r>
            <a:r>
              <a:rPr lang="da-DK" sz="1800" dirty="0"/>
              <a:t> or, more </a:t>
            </a:r>
            <a:r>
              <a:rPr lang="da-DK" sz="1800" dirty="0" err="1"/>
              <a:t>specifically</a:t>
            </a:r>
            <a:r>
              <a:rPr lang="da-DK" sz="1800" dirty="0"/>
              <a:t>, </a:t>
            </a:r>
            <a:r>
              <a:rPr lang="da-DK" sz="1800" dirty="0" err="1"/>
              <a:t>clustering</a:t>
            </a:r>
            <a:endParaRPr lang="da-DK" sz="1800" dirty="0"/>
          </a:p>
          <a:p>
            <a:pPr>
              <a:lnSpc>
                <a:spcPct val="150000"/>
              </a:lnSpc>
            </a:pPr>
            <a:r>
              <a:rPr lang="da-DK" sz="1800" dirty="0" err="1"/>
              <a:t>Rely</a:t>
            </a:r>
            <a:r>
              <a:rPr lang="da-DK" sz="1800" dirty="0"/>
              <a:t> on </a:t>
            </a:r>
            <a:r>
              <a:rPr lang="da-DK" sz="1800" dirty="0" err="1"/>
              <a:t>very</a:t>
            </a:r>
            <a:r>
              <a:rPr lang="da-DK" sz="1800" dirty="0"/>
              <a:t> </a:t>
            </a:r>
            <a:r>
              <a:rPr lang="da-DK" sz="1800" dirty="0" err="1"/>
              <a:t>few</a:t>
            </a:r>
            <a:r>
              <a:rPr lang="da-DK" sz="1800" dirty="0"/>
              <a:t> </a:t>
            </a:r>
            <a:r>
              <a:rPr lang="da-DK" sz="1800" dirty="0" err="1"/>
              <a:t>assumptions</a:t>
            </a:r>
            <a:r>
              <a:rPr lang="da-DK" sz="1800" dirty="0"/>
              <a:t> and </a:t>
            </a:r>
            <a:r>
              <a:rPr lang="da-DK" sz="1800" dirty="0" err="1"/>
              <a:t>does</a:t>
            </a:r>
            <a:r>
              <a:rPr lang="da-DK" sz="1800" dirty="0"/>
              <a:t> not </a:t>
            </a:r>
            <a:r>
              <a:rPr lang="da-DK" sz="1800" dirty="0" err="1"/>
              <a:t>need</a:t>
            </a:r>
            <a:r>
              <a:rPr lang="da-DK" sz="1800" dirty="0"/>
              <a:t> to </a:t>
            </a:r>
            <a:r>
              <a:rPr lang="da-DK" sz="1800" dirty="0" err="1"/>
              <a:t>know</a:t>
            </a:r>
            <a:r>
              <a:rPr lang="da-DK" sz="1800" dirty="0"/>
              <a:t> the </a:t>
            </a:r>
            <a:r>
              <a:rPr lang="da-DK" sz="1800" dirty="0" err="1"/>
              <a:t>number</a:t>
            </a:r>
            <a:r>
              <a:rPr lang="da-DK" sz="1800" dirty="0"/>
              <a:t> of clusters a priori</a:t>
            </a:r>
          </a:p>
          <a:p>
            <a:pPr marL="0" indent="0">
              <a:lnSpc>
                <a:spcPct val="150000"/>
              </a:lnSpc>
              <a:buNone/>
            </a:pPr>
            <a:endParaRPr lang="da-DK" sz="1800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64714C6-B817-6D60-D8BB-6BDBAA8D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26A58EC-622A-1B05-4AD3-65A65C64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917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23AB4-15AE-6B21-99EF-709298433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	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3D67173-8DBD-EFDB-D031-513B9E1CC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Introduction</a:t>
            </a:r>
            <a:r>
              <a:rPr lang="da-DK" dirty="0"/>
              <a:t> to </a:t>
            </a:r>
            <a:r>
              <a:rPr lang="da-DK" dirty="0" err="1"/>
              <a:t>change</a:t>
            </a:r>
            <a:r>
              <a:rPr lang="da-DK" dirty="0"/>
              <a:t> point </a:t>
            </a:r>
            <a:r>
              <a:rPr lang="da-DK" dirty="0" err="1"/>
              <a:t>detection</a:t>
            </a:r>
            <a:r>
              <a:rPr lang="da-DK" dirty="0"/>
              <a:t> models</a:t>
            </a:r>
          </a:p>
          <a:p>
            <a:r>
              <a:rPr lang="da-DK" dirty="0" err="1"/>
              <a:t>Theory</a:t>
            </a:r>
            <a:r>
              <a:rPr lang="da-DK" dirty="0"/>
              <a:t>: The </a:t>
            </a:r>
            <a:r>
              <a:rPr lang="da-DK" dirty="0" err="1"/>
              <a:t>Wasserstein</a:t>
            </a:r>
            <a:r>
              <a:rPr lang="da-DK" dirty="0"/>
              <a:t> distance</a:t>
            </a:r>
          </a:p>
          <a:p>
            <a:r>
              <a:rPr lang="da-DK" dirty="0" err="1"/>
              <a:t>Theory</a:t>
            </a:r>
            <a:r>
              <a:rPr lang="da-DK" dirty="0"/>
              <a:t>: Clustering</a:t>
            </a:r>
          </a:p>
          <a:p>
            <a:r>
              <a:rPr lang="da-DK" dirty="0"/>
              <a:t>Results</a:t>
            </a:r>
          </a:p>
          <a:p>
            <a:pPr lvl="1"/>
            <a:r>
              <a:rPr lang="da-DK" dirty="0" err="1"/>
              <a:t>Synthetic</a:t>
            </a:r>
            <a:r>
              <a:rPr lang="da-DK" dirty="0"/>
              <a:t> data</a:t>
            </a:r>
          </a:p>
          <a:p>
            <a:pPr lvl="1"/>
            <a:r>
              <a:rPr lang="da-DK" dirty="0"/>
              <a:t>Real-</a:t>
            </a:r>
            <a:r>
              <a:rPr lang="da-DK" dirty="0" err="1"/>
              <a:t>world</a:t>
            </a:r>
            <a:r>
              <a:rPr lang="da-DK" dirty="0"/>
              <a:t> data</a:t>
            </a:r>
          </a:p>
          <a:p>
            <a:pPr lvl="1"/>
            <a:r>
              <a:rPr lang="da-DK" dirty="0"/>
              <a:t>Trading </a:t>
            </a:r>
            <a:r>
              <a:rPr lang="da-DK" dirty="0" err="1"/>
              <a:t>algorithm</a:t>
            </a:r>
            <a:r>
              <a:rPr lang="da-DK" dirty="0"/>
              <a:t> and </a:t>
            </a:r>
            <a:r>
              <a:rPr lang="da-DK" dirty="0" err="1"/>
              <a:t>backtesting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97DAE8F-C396-92DB-28FF-4ABF1E238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B257BB03-5A43-E8C5-5804-30CE3FA5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730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81BBE-FD7F-7F73-8A81-908BFC53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Change point </a:t>
            </a:r>
            <a:r>
              <a:rPr lang="da-DK" dirty="0" err="1"/>
              <a:t>detection</a:t>
            </a:r>
            <a:r>
              <a:rPr lang="da-DK" dirty="0"/>
              <a:t> – </a:t>
            </a:r>
            <a:r>
              <a:rPr lang="da-DK" dirty="0" err="1"/>
              <a:t>concept</a:t>
            </a:r>
            <a:r>
              <a:rPr lang="da-DK" dirty="0"/>
              <a:t> and model 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559BF8C-3038-5E47-18EB-5AB6D6B7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28/11/2025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A38A7F1-FBC5-F2ED-3816-C8B42BD4E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4</a:t>
            </a:fld>
            <a:endParaRPr lang="en-GB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52BD9EF-6A38-6AB3-3930-E5DF55DAA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889" y="1503880"/>
            <a:ext cx="5156600" cy="4782620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0A619F71-7369-5ECF-C8FC-ABA89B9C7698}"/>
              </a:ext>
            </a:extLst>
          </p:cNvPr>
          <p:cNvSpPr/>
          <p:nvPr/>
        </p:nvSpPr>
        <p:spPr>
          <a:xfrm>
            <a:off x="588963" y="1628775"/>
            <a:ext cx="5507037" cy="4657725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t">
            <a:no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/>
              <a:t>Change point </a:t>
            </a:r>
            <a:r>
              <a:rPr lang="da-DK" dirty="0" err="1"/>
              <a:t>aims</a:t>
            </a:r>
            <a:r>
              <a:rPr lang="da-DK" dirty="0"/>
              <a:t> to segment a time series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locally</a:t>
            </a:r>
            <a:r>
              <a:rPr lang="da-DK" dirty="0"/>
              <a:t> </a:t>
            </a:r>
            <a:r>
              <a:rPr lang="da-DK" dirty="0" err="1"/>
              <a:t>stationary</a:t>
            </a:r>
            <a:r>
              <a:rPr lang="da-DK" dirty="0"/>
              <a:t> segments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 err="1"/>
              <a:t>Does</a:t>
            </a:r>
            <a:r>
              <a:rPr lang="da-DK" dirty="0"/>
              <a:t> so </a:t>
            </a:r>
            <a:r>
              <a:rPr lang="da-DK" dirty="0" err="1"/>
              <a:t>through</a:t>
            </a:r>
            <a:r>
              <a:rPr lang="da-DK" dirty="0"/>
              <a:t> </a:t>
            </a:r>
            <a:r>
              <a:rPr lang="da-DK" dirty="0" err="1"/>
              <a:t>minimizing</a:t>
            </a:r>
            <a:r>
              <a:rPr lang="da-DK" dirty="0"/>
              <a:t> a cost </a:t>
            </a:r>
            <a:r>
              <a:rPr lang="da-DK" dirty="0" err="1"/>
              <a:t>function</a:t>
            </a:r>
            <a:endParaRPr lang="da-DK" dirty="0"/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/>
              <a:t>Offline </a:t>
            </a:r>
            <a:r>
              <a:rPr lang="da-DK" dirty="0" err="1"/>
              <a:t>change</a:t>
            </a:r>
            <a:r>
              <a:rPr lang="da-DK" dirty="0"/>
              <a:t> </a:t>
            </a:r>
            <a:r>
              <a:rPr lang="da-DK" dirty="0" err="1"/>
              <a:t>detection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 has to </a:t>
            </a:r>
            <a:r>
              <a:rPr lang="da-DK" dirty="0" err="1">
                <a:sym typeface="Wingdings" pitchFamily="2" charset="2"/>
              </a:rPr>
              <a:t>be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used</a:t>
            </a:r>
            <a:r>
              <a:rPr lang="da-DK" dirty="0">
                <a:sym typeface="Wingdings" pitchFamily="2" charset="2"/>
              </a:rPr>
              <a:t> in-sample</a:t>
            </a:r>
          </a:p>
          <a:p>
            <a:pPr algn="l"/>
            <a:endParaRPr lang="da-DK" dirty="0">
              <a:sym typeface="Wingdings" pitchFamily="2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89A0D746-7CF3-4BED-F4DA-390B83488DB4}"/>
                  </a:ext>
                </a:extLst>
              </p:cNvPr>
              <p:cNvSpPr txBox="1"/>
              <p:nvPr/>
            </p:nvSpPr>
            <p:spPr>
              <a:xfrm>
                <a:off x="588963" y="4478740"/>
                <a:ext cx="4756238" cy="884281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da-DK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d>
                                    <m:d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da-DK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da-DK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: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da-DK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d>
                                    <m:d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da-DK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89A0D746-7CF3-4BED-F4DA-390B83488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3" y="4478740"/>
                <a:ext cx="4756238" cy="884281"/>
              </a:xfrm>
              <a:prstGeom prst="rect">
                <a:avLst/>
              </a:prstGeom>
              <a:blipFill>
                <a:blip r:embed="rId3"/>
                <a:stretch>
                  <a:fillRect t="-92958" b="-14507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B5A8BCE1-4C93-DD6B-1CB8-B409B474C9C8}"/>
                  </a:ext>
                </a:extLst>
              </p:cNvPr>
              <p:cNvSpPr txBox="1"/>
              <p:nvPr/>
            </p:nvSpPr>
            <p:spPr>
              <a:xfrm>
                <a:off x="1161010" y="5506224"/>
                <a:ext cx="4724114" cy="41453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/>
              <a:p>
                <a:pPr>
                  <a:spcBef>
                    <a:spcPct val="0"/>
                  </a:spcBef>
                </a:pPr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sup>
                        </m:sSup>
                      </m:e>
                    </m:d>
                    <m:r>
                      <a:rPr lang="da-DK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func>
                      <m:funcPr>
                        <m:ctrlPr>
                          <a:rPr lang="da-DK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a-DK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da-DK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a-DK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acc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da-DK" b="0" dirty="0">
                    <a:solidFill>
                      <a:schemeClr val="tx1"/>
                    </a:solidFill>
                  </a:rPr>
                  <a:t>+C</a:t>
                </a:r>
              </a:p>
            </p:txBody>
          </p:sp>
        </mc:Choice>
        <mc:Fallback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B5A8BCE1-4C93-DD6B-1CB8-B409B474C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010" y="5506224"/>
                <a:ext cx="4724114" cy="414537"/>
              </a:xfrm>
              <a:prstGeom prst="rect">
                <a:avLst/>
              </a:prstGeom>
              <a:blipFill>
                <a:blip r:embed="rId4"/>
                <a:stretch>
                  <a:fillRect l="-1340" b="-2058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17AB5BDF-561E-3EBE-7CA0-EA63F5C1EF94}"/>
                  </a:ext>
                </a:extLst>
              </p:cNvPr>
              <p:cNvSpPr txBox="1"/>
              <p:nvPr/>
            </p:nvSpPr>
            <p:spPr>
              <a:xfrm>
                <a:off x="815323" y="4058538"/>
                <a:ext cx="2409762" cy="276999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da-DK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time</m:t>
                      </m:r>
                      <m:r>
                        <a:rPr lang="da-DK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series</m:t>
                      </m:r>
                      <m:r>
                        <a:rPr lang="da-DK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da-DK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17AB5BDF-561E-3EBE-7CA0-EA63F5C1E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23" y="4058538"/>
                <a:ext cx="2409762" cy="276999"/>
              </a:xfrm>
              <a:prstGeom prst="rect">
                <a:avLst/>
              </a:prstGeom>
              <a:blipFill>
                <a:blip r:embed="rId5"/>
                <a:stretch>
                  <a:fillRect t="-13043" b="-3043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499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6EA215-1BC1-0B6E-0F80-C33E3A52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</a:t>
            </a:r>
            <a:r>
              <a:rPr lang="da-DK" dirty="0" err="1"/>
              <a:t>Wasserstein</a:t>
            </a:r>
            <a:r>
              <a:rPr lang="da-DK" dirty="0"/>
              <a:t> Distance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E70583AC-9DF1-376B-6379-976BC1AD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911474C-2DF1-BF4D-5F73-4C1FB092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5</a:t>
            </a:fld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F8709C07-0A0E-E6AC-2329-C7F3B5EB6E86}"/>
                  </a:ext>
                </a:extLst>
              </p:cNvPr>
              <p:cNvSpPr txBox="1"/>
              <p:nvPr/>
            </p:nvSpPr>
            <p:spPr>
              <a:xfrm>
                <a:off x="1597741" y="4473131"/>
                <a:ext cx="3489480" cy="629339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p>
                      </m:sSubSup>
                      <m:r>
                        <a:rPr lang="da-DK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da-DK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a-DK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da-DK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sz="20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F8709C07-0A0E-E6AC-2329-C7F3B5EB6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741" y="4473131"/>
                <a:ext cx="3489480" cy="629339"/>
              </a:xfrm>
              <a:prstGeom prst="rect">
                <a:avLst/>
              </a:prstGeom>
              <a:blipFill>
                <a:blip r:embed="rId2"/>
                <a:stretch>
                  <a:fillRect l="-7971" t="-208000" r="-362" b="-296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76BC6232-8936-7865-6CD9-4072F8B2DC96}"/>
                  </a:ext>
                </a:extLst>
              </p:cNvPr>
              <p:cNvSpPr txBox="1"/>
              <p:nvPr/>
            </p:nvSpPr>
            <p:spPr>
              <a:xfrm>
                <a:off x="788045" y="5239751"/>
                <a:ext cx="4618275" cy="956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200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da-DK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20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a-DK" sz="2000" b="0" i="1" smtClean="0">
                                        <a:latin typeface="Cambria Math" panose="02040503050406030204" pitchFamily="18" charset="0"/>
                                      </a:rPr>
                                      <m:t>𝑚𝑚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000" dirty="0"/>
              </a:p>
            </p:txBody>
          </p:sp>
        </mc:Choice>
        <mc:Fallback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76BC6232-8936-7865-6CD9-4072F8B2D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045" y="5239751"/>
                <a:ext cx="4618275" cy="956096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ktangel 11">
            <a:extLst>
              <a:ext uri="{FF2B5EF4-FFF2-40B4-BE49-F238E27FC236}">
                <a16:creationId xmlns:a16="http://schemas.microsoft.com/office/drawing/2014/main" id="{56EAAB36-39E5-72FE-F8C5-443BB5EAC9F7}"/>
              </a:ext>
            </a:extLst>
          </p:cNvPr>
          <p:cNvSpPr/>
          <p:nvPr/>
        </p:nvSpPr>
        <p:spPr>
          <a:xfrm>
            <a:off x="588963" y="1628776"/>
            <a:ext cx="5507037" cy="2604178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t">
            <a:no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>
                <a:sym typeface="Wingdings" pitchFamily="2" charset="2"/>
              </a:rPr>
              <a:t>The </a:t>
            </a:r>
            <a:r>
              <a:rPr lang="da-DK" dirty="0" err="1">
                <a:sym typeface="Wingdings" pitchFamily="2" charset="2"/>
              </a:rPr>
              <a:t>Pairwise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Wasserstein</a:t>
            </a:r>
            <a:r>
              <a:rPr lang="da-DK" dirty="0">
                <a:sym typeface="Wingdings" pitchFamily="2" charset="2"/>
              </a:rPr>
              <a:t> Distance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>
                <a:sym typeface="Wingdings" pitchFamily="2" charset="2"/>
              </a:rPr>
              <a:t>Distance in distribution </a:t>
            </a:r>
            <a:r>
              <a:rPr lang="da-DK" dirty="0" err="1">
                <a:sym typeface="Wingdings" pitchFamily="2" charset="2"/>
              </a:rPr>
              <a:t>between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two</a:t>
            </a:r>
            <a:r>
              <a:rPr lang="da-DK" dirty="0">
                <a:sym typeface="Wingdings" pitchFamily="2" charset="2"/>
              </a:rPr>
              <a:t> segments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>
                <a:sym typeface="Wingdings" pitchFamily="2" charset="2"/>
              </a:rPr>
              <a:t>”Difference in </a:t>
            </a:r>
            <a:r>
              <a:rPr lang="da-DK" dirty="0" err="1">
                <a:sym typeface="Wingdings" pitchFamily="2" charset="2"/>
              </a:rPr>
              <a:t>mass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between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two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cdfs</a:t>
            </a:r>
            <a:r>
              <a:rPr lang="da-DK" dirty="0">
                <a:sym typeface="Wingdings" pitchFamily="2" charset="2"/>
              </a:rPr>
              <a:t>”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 err="1">
                <a:sym typeface="Wingdings" pitchFamily="2" charset="2"/>
              </a:rPr>
              <a:t>Computed</a:t>
            </a:r>
            <a:r>
              <a:rPr lang="da-DK" dirty="0">
                <a:sym typeface="Wingdings" pitchFamily="2" charset="2"/>
              </a:rPr>
              <a:t> for all </a:t>
            </a:r>
            <a:r>
              <a:rPr lang="da-DK" dirty="0" err="1">
                <a:sym typeface="Wingdings" pitchFamily="2" charset="2"/>
              </a:rPr>
              <a:t>possible</a:t>
            </a:r>
            <a:r>
              <a:rPr lang="da-DK" dirty="0">
                <a:sym typeface="Wingdings" pitchFamily="2" charset="2"/>
              </a:rPr>
              <a:t> pairs of </a:t>
            </a:r>
            <a:r>
              <a:rPr lang="da-DK" i="1" dirty="0">
                <a:sym typeface="Wingdings" pitchFamily="2" charset="2"/>
              </a:rPr>
              <a:t>m</a:t>
            </a:r>
            <a:r>
              <a:rPr lang="da-DK" dirty="0">
                <a:sym typeface="Wingdings" pitchFamily="2" charset="2"/>
              </a:rPr>
              <a:t> segments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a-DK" dirty="0">
                <a:sym typeface="Wingdings" pitchFamily="2" charset="2"/>
              </a:rPr>
              <a:t>To </a:t>
            </a:r>
            <a:r>
              <a:rPr lang="da-DK" dirty="0" err="1">
                <a:sym typeface="Wingdings" pitchFamily="2" charset="2"/>
              </a:rPr>
              <a:t>construct</a:t>
            </a:r>
            <a:r>
              <a:rPr lang="da-DK" dirty="0">
                <a:sym typeface="Wingdings" pitchFamily="2" charset="2"/>
              </a:rPr>
              <a:t> the distance matrix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a-DK" dirty="0">
              <a:sym typeface="Wingdings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a-DK" dirty="0">
              <a:sym typeface="Wingdings" pitchFamily="2" charset="2"/>
            </a:endParaRPr>
          </a:p>
          <a:p>
            <a:pPr algn="l"/>
            <a:endParaRPr lang="da-DK" dirty="0">
              <a:sym typeface="Wingdings" pitchFamily="2" charset="2"/>
            </a:endParaRPr>
          </a:p>
          <a:p>
            <a:pPr algn="l"/>
            <a:endParaRPr lang="da-DK" dirty="0">
              <a:sym typeface="Wingdings" pitchFamily="2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81066686-BF63-23D4-E8A7-C695E6C80D16}"/>
                  </a:ext>
                </a:extLst>
              </p:cNvPr>
              <p:cNvSpPr txBox="1"/>
              <p:nvPr/>
            </p:nvSpPr>
            <p:spPr>
              <a:xfrm>
                <a:off x="1114649" y="4037772"/>
                <a:ext cx="3639330" cy="332463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two</m:t>
                      </m:r>
                      <m: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segments</m:t>
                      </m:r>
                      <m: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a-DK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sSub>
                        <m:sSubPr>
                          <m:ctrlPr>
                            <a:rPr lang="da-DK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da-DK" sz="2000" b="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81066686-BF63-23D4-E8A7-C695E6C80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649" y="4037772"/>
                <a:ext cx="3639330" cy="332463"/>
              </a:xfrm>
              <a:prstGeom prst="rect">
                <a:avLst/>
              </a:prstGeom>
              <a:blipFill>
                <a:blip r:embed="rId4"/>
                <a:stretch>
                  <a:fillRect l="-1042" t="-3571" r="-347" b="-25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utoShape 4">
            <a:extLst>
              <a:ext uri="{FF2B5EF4-FFF2-40B4-BE49-F238E27FC236}">
                <a16:creationId xmlns:a16="http://schemas.microsoft.com/office/drawing/2014/main" id="{9B3740C3-0203-C933-4CD2-785D95D320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17" name="Billede 16" descr="Et billede, der indeholder tekst, linje/række, diagram, Font/skrifttype&#10;&#10;AI-genereret indhold kan være ukorrekt.">
            <a:extLst>
              <a:ext uri="{FF2B5EF4-FFF2-40B4-BE49-F238E27FC236}">
                <a16:creationId xmlns:a16="http://schemas.microsoft.com/office/drawing/2014/main" id="{C820F2BB-5739-C9FB-3D5D-7C6CF9584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562" y="1843744"/>
            <a:ext cx="4277318" cy="42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38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7D7B6-0A12-D4E6-DD40-08E00F28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Self-tuning </a:t>
            </a:r>
            <a:r>
              <a:rPr lang="da-DK" dirty="0" err="1"/>
              <a:t>spectral</a:t>
            </a:r>
            <a:r>
              <a:rPr lang="da-DK" dirty="0"/>
              <a:t> </a:t>
            </a:r>
            <a:r>
              <a:rPr lang="da-DK" dirty="0" err="1"/>
              <a:t>clustering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C3B8D41-D541-1FF1-939C-8688EAB6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z="1200" smtClean="0"/>
              <a:t>26/11/2025</a:t>
            </a:fld>
            <a:endParaRPr lang="en-GB" sz="1200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F2BAEA9-46F1-1887-FB5F-7784CCAE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z="1200" smtClean="0"/>
              <a:t>6</a:t>
            </a:fld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6C3904A5-2C7F-7A88-4E58-83A83BFFD377}"/>
                  </a:ext>
                </a:extLst>
              </p:cNvPr>
              <p:cNvSpPr txBox="1"/>
              <p:nvPr/>
            </p:nvSpPr>
            <p:spPr>
              <a:xfrm>
                <a:off x="96830" y="4454708"/>
                <a:ext cx="2649513" cy="697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𝑚𝑚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1400" b="0" dirty="0"/>
              </a:p>
            </p:txBody>
          </p:sp>
        </mc:Choice>
        <mc:Fallback xmlns="">
          <p:sp>
            <p:nvSpPr>
              <p:cNvPr id="8" name="Tekstfelt 7">
                <a:extLst>
                  <a:ext uri="{FF2B5EF4-FFF2-40B4-BE49-F238E27FC236}">
                    <a16:creationId xmlns:a16="http://schemas.microsoft.com/office/drawing/2014/main" id="{6C3904A5-2C7F-7A88-4E58-83A83BFFD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0" y="4454708"/>
                <a:ext cx="2649513" cy="6970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CDC33E75-37E1-8D32-E6F5-23D10CD160D8}"/>
                  </a:ext>
                </a:extLst>
              </p:cNvPr>
              <p:cNvSpPr txBox="1"/>
              <p:nvPr/>
            </p:nvSpPr>
            <p:spPr>
              <a:xfrm>
                <a:off x="2452759" y="5681944"/>
                <a:ext cx="3914346" cy="532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a-DK" sz="120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a-DK" sz="12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da-DK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 sz="12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a-DK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  <m:sup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  <m:sub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  <m:r>
                                            <a:rPr lang="da-DK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  <m:r>
                                        <a:rPr lang="da-DK" sz="12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da-DK" sz="1200" b="0" dirty="0"/>
              </a:p>
            </p:txBody>
          </p:sp>
        </mc:Choice>
        <mc:Fallback xmlns="">
          <p:sp>
            <p:nvSpPr>
              <p:cNvPr id="9" name="Tekstfelt 8">
                <a:extLst>
                  <a:ext uri="{FF2B5EF4-FFF2-40B4-BE49-F238E27FC236}">
                    <a16:creationId xmlns:a16="http://schemas.microsoft.com/office/drawing/2014/main" id="{CDC33E75-37E1-8D32-E6F5-23D10CD16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59" y="5681944"/>
                <a:ext cx="3914346" cy="53271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87765E59-2667-274E-DAAB-5CCF73AA34B2}"/>
                  </a:ext>
                </a:extLst>
              </p:cNvPr>
              <p:cNvSpPr txBox="1"/>
              <p:nvPr/>
            </p:nvSpPr>
            <p:spPr>
              <a:xfrm>
                <a:off x="3769355" y="5650383"/>
                <a:ext cx="6097712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𝐷𝑒</m:t>
                      </m:r>
                      <m:sSub>
                        <m:sSubPr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da-DK" sz="1200" b="0" dirty="0"/>
              </a:p>
            </p:txBody>
          </p:sp>
        </mc:Choice>
        <mc:Fallback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87765E59-2667-274E-DAAB-5CCF73AA3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355" y="5650383"/>
                <a:ext cx="6097712" cy="617348"/>
              </a:xfrm>
              <a:prstGeom prst="rect">
                <a:avLst/>
              </a:prstGeom>
              <a:blipFill>
                <a:blip r:embed="rId4"/>
                <a:stretch>
                  <a:fillRect t="-88000" b="-136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169DA354-DBA1-0888-F1FC-D5F594F36E2A}"/>
                  </a:ext>
                </a:extLst>
              </p:cNvPr>
              <p:cNvSpPr txBox="1"/>
              <p:nvPr/>
            </p:nvSpPr>
            <p:spPr>
              <a:xfrm>
                <a:off x="2814462" y="4229903"/>
                <a:ext cx="2383870" cy="1146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da-DK" sz="1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da-DK" sz="1400" b="0" i="1" smtClean="0">
                                        <a:latin typeface="Cambria Math" panose="02040503050406030204" pitchFamily="18" charset="0"/>
                                      </a:rPr>
                                      <m:t>𝑚𝑚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da-DK" sz="1400" b="0" i="1" dirty="0">
                  <a:latin typeface="Cambria Math" panose="02040503050406030204" pitchFamily="18" charset="0"/>
                </a:endParaRPr>
              </a:p>
              <a:p>
                <a:endParaRPr lang="da-DK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da-DK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da-DK" sz="1400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da-DK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da-DK" sz="1400" dirty="0"/>
              </a:p>
            </p:txBody>
          </p:sp>
        </mc:Choice>
        <mc:Fallback xmlns="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169DA354-DBA1-0888-F1FC-D5F594F36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462" y="4229903"/>
                <a:ext cx="2383870" cy="11466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felt 17">
                <a:extLst>
                  <a:ext uri="{FF2B5EF4-FFF2-40B4-BE49-F238E27FC236}">
                    <a16:creationId xmlns:a16="http://schemas.microsoft.com/office/drawing/2014/main" id="{374CB6D6-AA85-D0DD-5753-587AD98713EA}"/>
                  </a:ext>
                </a:extLst>
              </p:cNvPr>
              <p:cNvSpPr txBox="1"/>
              <p:nvPr/>
            </p:nvSpPr>
            <p:spPr>
              <a:xfrm>
                <a:off x="5606503" y="4141738"/>
                <a:ext cx="2444113" cy="1322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200" b="1" i="1" smtClean="0">
                          <a:latin typeface="Cambria Math" panose="02040503050406030204" pitchFamily="18" charset="0"/>
                        </a:rPr>
                        <m:t>𝑫𝒆𝒈</m:t>
                      </m:r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nary>
                                  <m:naryPr>
                                    <m:chr m:val="∑"/>
                                    <m:ctrlP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𝑚𝑗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1200" dirty="0"/>
              </a:p>
            </p:txBody>
          </p:sp>
        </mc:Choice>
        <mc:Fallback xmlns="">
          <p:sp>
            <p:nvSpPr>
              <p:cNvPr id="18" name="Tekstfelt 17">
                <a:extLst>
                  <a:ext uri="{FF2B5EF4-FFF2-40B4-BE49-F238E27FC236}">
                    <a16:creationId xmlns:a16="http://schemas.microsoft.com/office/drawing/2014/main" id="{374CB6D6-AA85-D0DD-5753-587AD9871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503" y="4141738"/>
                <a:ext cx="2444113" cy="1322991"/>
              </a:xfrm>
              <a:prstGeom prst="rect">
                <a:avLst/>
              </a:prstGeom>
              <a:blipFill>
                <a:blip r:embed="rId6"/>
                <a:stretch>
                  <a:fillRect t="-41509" b="-6320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D9239AA3-9D59-17E1-4894-E2920CA3100C}"/>
                  </a:ext>
                </a:extLst>
              </p:cNvPr>
              <p:cNvSpPr txBox="1"/>
              <p:nvPr/>
            </p:nvSpPr>
            <p:spPr>
              <a:xfrm>
                <a:off x="7204769" y="5926051"/>
                <a:ext cx="275469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𝐷𝑒𝑔</m:t>
                      </m:r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a-DK" sz="1200" dirty="0"/>
              </a:p>
            </p:txBody>
          </p:sp>
        </mc:Choice>
        <mc:Fallback xmlns="">
          <p:sp>
            <p:nvSpPr>
              <p:cNvPr id="22" name="Tekstfelt 21">
                <a:extLst>
                  <a:ext uri="{FF2B5EF4-FFF2-40B4-BE49-F238E27FC236}">
                    <a16:creationId xmlns:a16="http://schemas.microsoft.com/office/drawing/2014/main" id="{D9239AA3-9D59-17E1-4894-E2920CA31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769" y="5926051"/>
                <a:ext cx="2754690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9FA3283B-2EDE-BE27-6847-637CA5AB9BDC}"/>
                  </a:ext>
                </a:extLst>
              </p:cNvPr>
              <p:cNvSpPr txBox="1"/>
              <p:nvPr/>
            </p:nvSpPr>
            <p:spPr>
              <a:xfrm>
                <a:off x="9098114" y="5822625"/>
                <a:ext cx="2147799" cy="378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𝑠𝑦𝑚</m:t>
                          </m:r>
                        </m:sub>
                      </m:sSub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𝐷𝑒</m:t>
                      </m:r>
                      <m:sSup>
                        <m:sSupPr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𝐿𝐷𝑒</m:t>
                      </m:r>
                      <m:sSup>
                        <m:sSupPr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da-DK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a-DK" sz="1200" dirty="0"/>
              </a:p>
            </p:txBody>
          </p:sp>
        </mc:Choice>
        <mc:Fallback xmlns="">
          <p:sp>
            <p:nvSpPr>
              <p:cNvPr id="25" name="Tekstfelt 24">
                <a:extLst>
                  <a:ext uri="{FF2B5EF4-FFF2-40B4-BE49-F238E27FC236}">
                    <a16:creationId xmlns:a16="http://schemas.microsoft.com/office/drawing/2014/main" id="{9FA3283B-2EDE-BE27-6847-637CA5AB9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114" y="5822625"/>
                <a:ext cx="2147799" cy="3786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kstfelt 26">
                <a:extLst>
                  <a:ext uri="{FF2B5EF4-FFF2-40B4-BE49-F238E27FC236}">
                    <a16:creationId xmlns:a16="http://schemas.microsoft.com/office/drawing/2014/main" id="{E5A2B8D9-A26B-8A76-DD66-9FBE5DBE7A98}"/>
                  </a:ext>
                </a:extLst>
              </p:cNvPr>
              <p:cNvSpPr txBox="1"/>
              <p:nvPr/>
            </p:nvSpPr>
            <p:spPr>
              <a:xfrm>
                <a:off x="7022201" y="4245164"/>
                <a:ext cx="6097712" cy="11161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da-DK" sz="1200" b="1" i="1" smtClean="0">
                              <a:latin typeface="Cambria Math" panose="02040503050406030204" pitchFamily="18" charset="0"/>
                            </a:rPr>
                            <m:t>𝒔𝒚𝒎</m:t>
                          </m:r>
                        </m:sub>
                      </m:sSub>
                      <m:r>
                        <a:rPr lang="da-DK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da-DK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da-DK" sz="12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da-DK" sz="1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a-DK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  <m:t>𝐷𝑒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120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da-DK" sz="1200" i="1">
                                                <a:latin typeface="Cambria Math" panose="02040503050406030204" pitchFamily="18" charset="0"/>
                                              </a:rPr>
                                              <m:t>𝑖𝑖</m:t>
                                            </m:r>
                                          </m:sub>
                                        </m:sSub>
                                        <m:r>
                                          <a:rPr lang="da-DK" sz="1200" i="1">
                                            <a:latin typeface="Cambria Math" panose="02040503050406030204" pitchFamily="18" charset="0"/>
                                          </a:rPr>
                                          <m:t>𝐷𝑒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1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1200" i="1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da-DK" sz="1200" i="1">
                                                <a:latin typeface="Cambria Math" panose="02040503050406030204" pitchFamily="18" charset="0"/>
                                              </a:rPr>
                                              <m:t>𝑗𝑗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a-DK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𝐷𝑒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da-DK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𝑖𝑖</m:t>
                                            </m:r>
                                          </m:sub>
                                        </m:sSub>
                                        <m:r>
                                          <a:rPr lang="da-DK" sz="1200" b="0" i="1" smtClean="0">
                                            <a:latin typeface="Cambria Math" panose="02040503050406030204" pitchFamily="18" charset="0"/>
                                          </a:rPr>
                                          <m:t>𝐷𝑒</m:t>
                                        </m:r>
                                        <m:sSub>
                                          <m:sSubPr>
                                            <m:ctrlPr>
                                              <a:rPr lang="da-DK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a-DK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da-DK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𝑗𝑗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da-DK" sz="1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da-DK" sz="12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1200" dirty="0"/>
              </a:p>
            </p:txBody>
          </p:sp>
        </mc:Choice>
        <mc:Fallback xmlns="">
          <p:sp>
            <p:nvSpPr>
              <p:cNvPr id="27" name="Tekstfelt 26">
                <a:extLst>
                  <a:ext uri="{FF2B5EF4-FFF2-40B4-BE49-F238E27FC236}">
                    <a16:creationId xmlns:a16="http://schemas.microsoft.com/office/drawing/2014/main" id="{E5A2B8D9-A26B-8A76-DD66-9FBE5DBE7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201" y="4245164"/>
                <a:ext cx="6097712" cy="11161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Lige pilforbindelse 28">
            <a:extLst>
              <a:ext uri="{FF2B5EF4-FFF2-40B4-BE49-F238E27FC236}">
                <a16:creationId xmlns:a16="http://schemas.microsoft.com/office/drawing/2014/main" id="{92EE6CBF-F294-FC56-502A-E795E0DC4675}"/>
              </a:ext>
            </a:extLst>
          </p:cNvPr>
          <p:cNvCxnSpPr>
            <a:cxnSpLocks/>
          </p:cNvCxnSpPr>
          <p:nvPr/>
        </p:nvCxnSpPr>
        <p:spPr>
          <a:xfrm flipV="1">
            <a:off x="2452759" y="4760088"/>
            <a:ext cx="46136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5306F663-1B65-0BC4-3E3B-BF0E3C033208}"/>
              </a:ext>
            </a:extLst>
          </p:cNvPr>
          <p:cNvCxnSpPr>
            <a:cxnSpLocks/>
          </p:cNvCxnSpPr>
          <p:nvPr/>
        </p:nvCxnSpPr>
        <p:spPr>
          <a:xfrm flipV="1">
            <a:off x="5220141" y="4760087"/>
            <a:ext cx="46136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C9A8B829-533F-0DBB-BC90-FDB4E66C58E8}"/>
              </a:ext>
            </a:extLst>
          </p:cNvPr>
          <p:cNvCxnSpPr>
            <a:cxnSpLocks/>
          </p:cNvCxnSpPr>
          <p:nvPr/>
        </p:nvCxnSpPr>
        <p:spPr>
          <a:xfrm flipV="1">
            <a:off x="7962090" y="4759086"/>
            <a:ext cx="46136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6170382F-6CD4-E866-BC13-98B02F2BBF80}"/>
              </a:ext>
            </a:extLst>
          </p:cNvPr>
          <p:cNvCxnSpPr>
            <a:cxnSpLocks/>
          </p:cNvCxnSpPr>
          <p:nvPr/>
        </p:nvCxnSpPr>
        <p:spPr>
          <a:xfrm>
            <a:off x="588965" y="5553561"/>
            <a:ext cx="110124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DB6F5AD9-FDE0-2F1B-A402-A154F9216249}"/>
              </a:ext>
            </a:extLst>
          </p:cNvPr>
          <p:cNvCxnSpPr>
            <a:cxnSpLocks/>
          </p:cNvCxnSpPr>
          <p:nvPr/>
        </p:nvCxnSpPr>
        <p:spPr>
          <a:xfrm>
            <a:off x="588965" y="4113832"/>
            <a:ext cx="110124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ge forbindelse 40">
            <a:extLst>
              <a:ext uri="{FF2B5EF4-FFF2-40B4-BE49-F238E27FC236}">
                <a16:creationId xmlns:a16="http://schemas.microsoft.com/office/drawing/2014/main" id="{196D1B49-D1D2-7FFC-B310-E7B2F6243268}"/>
              </a:ext>
            </a:extLst>
          </p:cNvPr>
          <p:cNvCxnSpPr>
            <a:cxnSpLocks/>
          </p:cNvCxnSpPr>
          <p:nvPr/>
        </p:nvCxnSpPr>
        <p:spPr>
          <a:xfrm>
            <a:off x="588963" y="6302375"/>
            <a:ext cx="110124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ktangel 41">
                <a:extLst>
                  <a:ext uri="{FF2B5EF4-FFF2-40B4-BE49-F238E27FC236}">
                    <a16:creationId xmlns:a16="http://schemas.microsoft.com/office/drawing/2014/main" id="{39FDB78E-FBCB-3654-2483-5695C63D9EC4}"/>
                  </a:ext>
                </a:extLst>
              </p:cNvPr>
              <p:cNvSpPr/>
              <p:nvPr/>
            </p:nvSpPr>
            <p:spPr>
              <a:xfrm>
                <a:off x="588961" y="1617654"/>
                <a:ext cx="11012487" cy="241614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wrap="square" rtlCol="0" anchor="t">
                <a:noAutofit/>
              </a:bodyPr>
              <a:lstStyle/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a-DK" dirty="0">
                    <a:sym typeface="Wingdings" pitchFamily="2" charset="2"/>
                  </a:rPr>
                  <a:t>Distance Matrix  </a:t>
                </a:r>
                <a:r>
                  <a:rPr lang="da-DK" dirty="0" err="1">
                    <a:sym typeface="Wingdings" pitchFamily="2" charset="2"/>
                  </a:rPr>
                  <a:t>Similarity</a:t>
                </a:r>
                <a:r>
                  <a:rPr lang="da-DK" dirty="0">
                    <a:sym typeface="Wingdings" pitchFamily="2" charset="2"/>
                  </a:rPr>
                  <a:t> matrix  </a:t>
                </a:r>
                <a:r>
                  <a:rPr lang="da-DK" dirty="0" err="1">
                    <a:sym typeface="Wingdings" pitchFamily="2" charset="2"/>
                  </a:rPr>
                  <a:t>Degree</a:t>
                </a:r>
                <a:r>
                  <a:rPr lang="da-DK" dirty="0">
                    <a:sym typeface="Wingdings" pitchFamily="2" charset="2"/>
                  </a:rPr>
                  <a:t> matrix  </a:t>
                </a:r>
                <a:r>
                  <a:rPr lang="da-DK" dirty="0" err="1">
                    <a:sym typeface="Wingdings" pitchFamily="2" charset="2"/>
                  </a:rPr>
                  <a:t>Laplacian</a:t>
                </a:r>
                <a:r>
                  <a:rPr lang="da-DK" dirty="0">
                    <a:sym typeface="Wingdings" pitchFamily="2" charset="2"/>
                  </a:rPr>
                  <a:t> matrix 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b="1" i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𝐔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𝑚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×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da-DK" dirty="0">
                    <a:sym typeface="Wingdings" pitchFamily="2" charset="2"/>
                  </a:rPr>
                  <a:t> (</a:t>
                </a:r>
                <a:r>
                  <a:rPr lang="da-DK" dirty="0" err="1">
                    <a:sym typeface="Wingdings" pitchFamily="2" charset="2"/>
                  </a:rPr>
                  <a:t>eigen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vectors</a:t>
                </a:r>
                <a:r>
                  <a:rPr lang="da-DK" dirty="0">
                    <a:sym typeface="Wingdings" pitchFamily="2" charset="2"/>
                  </a:rPr>
                  <a:t>)</a:t>
                </a: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a-DK" dirty="0" err="1">
                    <a:sym typeface="Wingdings" pitchFamily="2" charset="2"/>
                  </a:rPr>
                  <a:t>Perfectly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disconnected</a:t>
                </a:r>
                <a:r>
                  <a:rPr lang="da-DK" dirty="0">
                    <a:sym typeface="Wingdings" pitchFamily="2" charset="2"/>
                  </a:rPr>
                  <a:t> clusters </a:t>
                </a:r>
                <a:r>
                  <a:rPr lang="da-DK" dirty="0" err="1">
                    <a:sym typeface="Wingdings" pitchFamily="2" charset="2"/>
                  </a:rPr>
                  <a:t>means</a:t>
                </a:r>
                <a:r>
                  <a:rPr lang="da-DK" dirty="0">
                    <a:sym typeface="Wingdings" pitchFamily="2" charset="2"/>
                  </a:rPr>
                  <a:t> 0-values in matrix and </a:t>
                </a:r>
                <a:r>
                  <a:rPr lang="da-DK" dirty="0" err="1">
                    <a:sym typeface="Wingdings" pitchFamily="2" charset="2"/>
                  </a:rPr>
                  <a:t>thus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eigenvalue</a:t>
                </a:r>
                <a:r>
                  <a:rPr lang="da-DK" dirty="0">
                    <a:sym typeface="Wingdings" pitchFamily="2" charset="2"/>
                  </a:rPr>
                  <a:t> of </a:t>
                </a:r>
                <a:r>
                  <a:rPr lang="da-DK" dirty="0" err="1">
                    <a:sym typeface="Wingdings" pitchFamily="2" charset="2"/>
                  </a:rPr>
                  <a:t>zero</a:t>
                </a:r>
                <a:endParaRPr lang="da-DK" dirty="0">
                  <a:sym typeface="Wingdings" pitchFamily="2" charset="2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a-DK" dirty="0">
                    <a:sym typeface="Wingdings" pitchFamily="2" charset="2"/>
                  </a:rPr>
                  <a:t>In </a:t>
                </a:r>
                <a:r>
                  <a:rPr lang="da-DK" dirty="0" err="1">
                    <a:sym typeface="Wingdings" pitchFamily="2" charset="2"/>
                  </a:rPr>
                  <a:t>perfect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world</a:t>
                </a:r>
                <a:r>
                  <a:rPr lang="da-DK" dirty="0">
                    <a:sym typeface="Wingdings" pitchFamily="2" charset="2"/>
                  </a:rPr>
                  <a:t>: </a:t>
                </a:r>
                <a:r>
                  <a:rPr lang="da-DK" dirty="0" err="1">
                    <a:sym typeface="Wingdings" pitchFamily="2" charset="2"/>
                  </a:rPr>
                  <a:t>count</a:t>
                </a:r>
                <a:r>
                  <a:rPr lang="da-DK" dirty="0">
                    <a:sym typeface="Wingdings" pitchFamily="2" charset="2"/>
                  </a:rPr>
                  <a:t> the </a:t>
                </a:r>
                <a:r>
                  <a:rPr lang="da-DK" dirty="0" err="1">
                    <a:sym typeface="Wingdings" pitchFamily="2" charset="2"/>
                  </a:rPr>
                  <a:t>eigenvalues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that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are</a:t>
                </a:r>
                <a:r>
                  <a:rPr lang="da-DK" dirty="0">
                    <a:sym typeface="Wingdings" pitchFamily="2" charset="2"/>
                  </a:rPr>
                  <a:t> =0 to find </a:t>
                </a:r>
                <a:r>
                  <a:rPr lang="da-DK" dirty="0" err="1">
                    <a:sym typeface="Wingdings" pitchFamily="2" charset="2"/>
                  </a:rPr>
                  <a:t>number</a:t>
                </a:r>
                <a:r>
                  <a:rPr lang="da-DK" dirty="0">
                    <a:sym typeface="Wingdings" pitchFamily="2" charset="2"/>
                  </a:rPr>
                  <a:t> of </a:t>
                </a:r>
                <a:r>
                  <a:rPr lang="da-DK" dirty="0" err="1">
                    <a:sym typeface="Wingdings" pitchFamily="2" charset="2"/>
                  </a:rPr>
                  <a:t>well-defined</a:t>
                </a:r>
                <a:r>
                  <a:rPr lang="da-DK" dirty="0">
                    <a:sym typeface="Wingdings" pitchFamily="2" charset="2"/>
                  </a:rPr>
                  <a:t> clusters.</a:t>
                </a: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a-DK" dirty="0">
                    <a:sym typeface="Wingdings" pitchFamily="2" charset="2"/>
                  </a:rPr>
                  <a:t>In the real </a:t>
                </a:r>
                <a:r>
                  <a:rPr lang="da-DK" dirty="0" err="1">
                    <a:sym typeface="Wingdings" pitchFamily="2" charset="2"/>
                  </a:rPr>
                  <a:t>world</a:t>
                </a:r>
                <a:r>
                  <a:rPr lang="da-DK" dirty="0">
                    <a:sym typeface="Wingdings" pitchFamily="2" charset="2"/>
                  </a:rPr>
                  <a:t>: </a:t>
                </a:r>
                <a:r>
                  <a:rPr lang="da-DK" dirty="0" err="1">
                    <a:sym typeface="Wingdings" pitchFamily="2" charset="2"/>
                  </a:rPr>
                  <a:t>various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methods</a:t>
                </a:r>
                <a:r>
                  <a:rPr lang="da-DK" dirty="0">
                    <a:sym typeface="Wingdings" pitchFamily="2" charset="2"/>
                  </a:rPr>
                  <a:t> – I find the </a:t>
                </a:r>
                <a:r>
                  <a:rPr lang="da-DK" dirty="0" err="1">
                    <a:sym typeface="Wingdings" pitchFamily="2" charset="2"/>
                  </a:rPr>
                  <a:t>largest</a:t>
                </a:r>
                <a:r>
                  <a:rPr lang="da-DK" dirty="0">
                    <a:sym typeface="Wingdings" pitchFamily="2" charset="2"/>
                  </a:rPr>
                  <a:t> jump in (</a:t>
                </a:r>
                <a:r>
                  <a:rPr lang="da-DK" dirty="0" err="1">
                    <a:sym typeface="Wingdings" pitchFamily="2" charset="2"/>
                  </a:rPr>
                  <a:t>ordered</a:t>
                </a:r>
                <a:r>
                  <a:rPr lang="da-DK" dirty="0">
                    <a:sym typeface="Wingdings" pitchFamily="2" charset="2"/>
                  </a:rPr>
                  <a:t>) </a:t>
                </a:r>
                <a:r>
                  <a:rPr lang="da-DK" dirty="0" err="1">
                    <a:sym typeface="Wingdings" pitchFamily="2" charset="2"/>
                  </a:rPr>
                  <a:t>eigenvalues</a:t>
                </a:r>
                <a:endParaRPr lang="da-DK" dirty="0">
                  <a:sym typeface="Wingdings" pitchFamily="2" charset="2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a-DK" b="1" i="1" dirty="0">
                    <a:sym typeface="Wingdings" pitchFamily="2" charset="2"/>
                  </a:rPr>
                  <a:t>k</a:t>
                </a:r>
                <a:r>
                  <a:rPr lang="da-DK" i="1" dirty="0">
                    <a:sym typeface="Wingdings" pitchFamily="2" charset="2"/>
                  </a:rPr>
                  <a:t>’ </a:t>
                </a:r>
                <a:r>
                  <a:rPr lang="da-DK" dirty="0">
                    <a:sym typeface="Wingdings" pitchFamily="2" charset="2"/>
                  </a:rPr>
                  <a:t>th jump is </a:t>
                </a:r>
                <a:r>
                  <a:rPr lang="da-DK" dirty="0" err="1">
                    <a:sym typeface="Wingdings" pitchFamily="2" charset="2"/>
                  </a:rPr>
                  <a:t>largest</a:t>
                </a:r>
                <a:r>
                  <a:rPr lang="da-DK" dirty="0">
                    <a:sym typeface="Wingdings" pitchFamily="2" charset="2"/>
                  </a:rPr>
                  <a:t>  </a:t>
                </a:r>
                <a:r>
                  <a:rPr lang="da-DK" b="1" i="1" dirty="0">
                    <a:sym typeface="Wingdings" pitchFamily="2" charset="2"/>
                  </a:rPr>
                  <a:t>k </a:t>
                </a:r>
                <a:r>
                  <a:rPr lang="da-DK" dirty="0">
                    <a:sym typeface="Wingdings" pitchFamily="2" charset="2"/>
                  </a:rPr>
                  <a:t>clusters. </a:t>
                </a:r>
                <a:r>
                  <a:rPr lang="da-DK" dirty="0" err="1">
                    <a:sym typeface="Wingdings" pitchFamily="2" charset="2"/>
                  </a:rPr>
                  <a:t>Then</a:t>
                </a:r>
                <a:r>
                  <a:rPr lang="da-DK" dirty="0">
                    <a:sym typeface="Wingdings" pitchFamily="2" charset="2"/>
                  </a:rPr>
                  <a:t>,  </a:t>
                </a:r>
                <a:r>
                  <a:rPr lang="da-DK" dirty="0" err="1">
                    <a:sym typeface="Wingdings" pitchFamily="2" charset="2"/>
                  </a:rPr>
                  <a:t>use</a:t>
                </a:r>
                <a:r>
                  <a:rPr lang="da-DK" dirty="0">
                    <a:sym typeface="Wingdings" pitchFamily="2" charset="2"/>
                  </a:rPr>
                  <a:t> k-</a:t>
                </a:r>
                <a:r>
                  <a:rPr lang="da-DK" dirty="0" err="1">
                    <a:sym typeface="Wingdings" pitchFamily="2" charset="2"/>
                  </a:rPr>
                  <a:t>means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clustering</a:t>
                </a:r>
                <a:r>
                  <a:rPr lang="da-DK" dirty="0">
                    <a:sym typeface="Wingdings" pitchFamily="2" charset="2"/>
                  </a:rPr>
                  <a:t> on the matrix of </a:t>
                </a:r>
                <a:r>
                  <a:rPr lang="da-DK" dirty="0" err="1">
                    <a:sym typeface="Wingdings" pitchFamily="2" charset="2"/>
                  </a:rPr>
                  <a:t>eigen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vectors</a:t>
                </a:r>
                <a:r>
                  <a:rPr lang="da-DK" dirty="0">
                    <a:sym typeface="Wingdings" pitchFamily="2" charset="2"/>
                  </a:rPr>
                  <a:t> (standard)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da-DK" dirty="0">
                  <a:sym typeface="Wingdings" pitchFamily="2" charset="2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da-DK" dirty="0">
                  <a:sym typeface="Wingdings" pitchFamily="2" charset="2"/>
                </a:endParaRPr>
              </a:p>
              <a:p>
                <a:pPr algn="l"/>
                <a:endParaRPr lang="da-DK" dirty="0">
                  <a:sym typeface="Wingdings" pitchFamily="2" charset="2"/>
                </a:endParaRPr>
              </a:p>
              <a:p>
                <a:pPr algn="l"/>
                <a:endParaRPr lang="da-DK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42" name="Rektangel 41">
                <a:extLst>
                  <a:ext uri="{FF2B5EF4-FFF2-40B4-BE49-F238E27FC236}">
                    <a16:creationId xmlns:a16="http://schemas.microsoft.com/office/drawing/2014/main" id="{39FDB78E-FBCB-3654-2483-5695C63D9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61" y="1617654"/>
                <a:ext cx="11012487" cy="2416140"/>
              </a:xfrm>
              <a:prstGeom prst="rect">
                <a:avLst/>
              </a:prstGeom>
              <a:blipFill>
                <a:blip r:embed="rId10"/>
                <a:stretch>
                  <a:fillRect l="-346" r="-922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448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BD0F54-302A-9DFC-F589-C23EACA93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Results – </a:t>
            </a:r>
            <a:r>
              <a:rPr lang="da-DK" dirty="0" err="1"/>
              <a:t>synthetic</a:t>
            </a:r>
            <a:r>
              <a:rPr lang="da-DK" dirty="0"/>
              <a:t> data (1/2)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0AC7B4C-C9FE-9919-CD1E-1F335ED9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766F82-AA16-070B-8028-C188D55A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7</a:t>
            </a:fld>
            <a:endParaRPr lang="en-GB" dirty="0"/>
          </a:p>
        </p:txBody>
      </p:sp>
      <p:pic>
        <p:nvPicPr>
          <p:cNvPr id="14" name="Billede 13" descr="Et billede, der indeholder linje/række, diagram, Kurve, skærmbillede&#10;&#10;AI-genereret indhold kan være ukorrekt.">
            <a:extLst>
              <a:ext uri="{FF2B5EF4-FFF2-40B4-BE49-F238E27FC236}">
                <a16:creationId xmlns:a16="http://schemas.microsoft.com/office/drawing/2014/main" id="{7E350783-3730-6BE8-07C1-A691E2E8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04" r="8093"/>
          <a:stretch>
            <a:fillRect/>
          </a:stretch>
        </p:blipFill>
        <p:spPr>
          <a:xfrm>
            <a:off x="2146658" y="1484313"/>
            <a:ext cx="7898684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3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12221-C030-197E-2151-0124AF68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Results – </a:t>
            </a:r>
            <a:r>
              <a:rPr lang="da-DK" dirty="0" err="1"/>
              <a:t>synthetic</a:t>
            </a:r>
            <a:r>
              <a:rPr lang="da-DK" dirty="0"/>
              <a:t> data (2/2)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1E54EFF-85D6-CAB0-EA68-E9D30658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E2BAD66-FFEF-3CB8-963A-EE6EB447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8</a:t>
            </a:fld>
            <a:endParaRPr lang="en-GB" dirty="0"/>
          </a:p>
        </p:txBody>
      </p:sp>
      <p:pic>
        <p:nvPicPr>
          <p:cNvPr id="5" name="Billede 4" descr="Et billede, der indeholder linje/række, Kurve, diagram&#10;&#10;AI-genereret indhold kan være ukorrekt.">
            <a:extLst>
              <a:ext uri="{FF2B5EF4-FFF2-40B4-BE49-F238E27FC236}">
                <a16:creationId xmlns:a16="http://schemas.microsoft.com/office/drawing/2014/main" id="{FF2A1D7E-7002-3C42-8A66-5E811B12D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8" y="3188641"/>
            <a:ext cx="6235772" cy="3117886"/>
          </a:xfrm>
          <a:prstGeom prst="rect">
            <a:avLst/>
          </a:prstGeom>
        </p:spPr>
      </p:pic>
      <p:pic>
        <p:nvPicPr>
          <p:cNvPr id="6" name="Billede 5" descr="Et billede, der indeholder skærmbillede, Kurve, linje/række, diagram&#10;&#10;AI-genereret indhold kan være ukorrekt.">
            <a:extLst>
              <a:ext uri="{FF2B5EF4-FFF2-40B4-BE49-F238E27FC236}">
                <a16:creationId xmlns:a16="http://schemas.microsoft.com/office/drawing/2014/main" id="{D20FE325-4E56-024D-7399-FC7EA4338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356" y="3403610"/>
            <a:ext cx="5581094" cy="2790547"/>
          </a:xfrm>
          <a:prstGeom prst="rect">
            <a:avLst/>
          </a:prstGeom>
        </p:spPr>
      </p:pic>
      <p:sp>
        <p:nvSpPr>
          <p:cNvPr id="9" name="Rektangel 8">
            <a:extLst>
              <a:ext uri="{FF2B5EF4-FFF2-40B4-BE49-F238E27FC236}">
                <a16:creationId xmlns:a16="http://schemas.microsoft.com/office/drawing/2014/main" id="{C7FC7697-453B-5C32-4963-900B2EC6937B}"/>
              </a:ext>
            </a:extLst>
          </p:cNvPr>
          <p:cNvSpPr/>
          <p:nvPr/>
        </p:nvSpPr>
        <p:spPr>
          <a:xfrm>
            <a:off x="588963" y="1628776"/>
            <a:ext cx="11012487" cy="1365008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t">
            <a:noAutofit/>
          </a:bodyPr>
          <a:lstStyle/>
          <a:p>
            <a:pPr algn="l"/>
            <a:r>
              <a:rPr lang="da-DK" dirty="0">
                <a:sym typeface="Wingdings" pitchFamily="2" charset="2"/>
              </a:rPr>
              <a:t>1 of 100 iterations of data with segments of </a:t>
            </a:r>
            <a:r>
              <a:rPr lang="da-DK" dirty="0" err="1">
                <a:sym typeface="Wingdings" pitchFamily="2" charset="2"/>
              </a:rPr>
              <a:t>normally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distributed</a:t>
            </a:r>
            <a:r>
              <a:rPr lang="da-DK" dirty="0">
                <a:sym typeface="Wingdings" pitchFamily="2" charset="2"/>
              </a:rPr>
              <a:t> data</a:t>
            </a:r>
          </a:p>
          <a:p>
            <a:pPr algn="l"/>
            <a:endParaRPr lang="da-DK" dirty="0">
              <a:sym typeface="Wingdings" pitchFamily="2" charset="2"/>
            </a:endParaRPr>
          </a:p>
          <a:p>
            <a:pPr algn="l"/>
            <a:r>
              <a:rPr lang="da-DK" dirty="0" err="1">
                <a:sym typeface="Wingdings" pitchFamily="2" charset="2"/>
              </a:rPr>
              <a:t>Largest</a:t>
            </a:r>
            <a:r>
              <a:rPr lang="da-DK" dirty="0">
                <a:sym typeface="Wingdings" pitchFamily="2" charset="2"/>
              </a:rPr>
              <a:t> jump in </a:t>
            </a:r>
            <a:r>
              <a:rPr lang="da-DK" dirty="0" err="1">
                <a:sym typeface="Wingdings" pitchFamily="2" charset="2"/>
              </a:rPr>
              <a:t>eigenvalue</a:t>
            </a:r>
            <a:r>
              <a:rPr lang="da-DK" dirty="0">
                <a:sym typeface="Wingdings" pitchFamily="2" charset="2"/>
              </a:rPr>
              <a:t> = 5  5 clusters</a:t>
            </a:r>
          </a:p>
        </p:txBody>
      </p:sp>
    </p:spTree>
    <p:extLst>
      <p:ext uri="{BB962C8B-B14F-4D97-AF65-F5344CB8AC3E}">
        <p14:creationId xmlns:p14="http://schemas.microsoft.com/office/powerpoint/2010/main" val="319511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8A00-16D4-566A-9791-0CD4BB34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3C93B-5E86-7DE8-FE3C-38ABCD66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Results – real-</a:t>
            </a:r>
            <a:r>
              <a:rPr lang="da-DK" dirty="0" err="1"/>
              <a:t>world</a:t>
            </a:r>
            <a:r>
              <a:rPr lang="da-DK" dirty="0"/>
              <a:t> data (1/2)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F483276-92A1-25A2-C9B7-C4753A27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431DA87-FE94-E196-EB4B-034C1CC7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9</a:t>
            </a:fld>
            <a:endParaRPr lang="en-GB" dirty="0"/>
          </a:p>
        </p:txBody>
      </p:sp>
      <p:pic>
        <p:nvPicPr>
          <p:cNvPr id="6" name="Billede 5" descr="Et billede, der indeholder skærmbillede, Kurve, linje/række, diagram&#10;&#10;AI-genereret indhold kan være ukorrekt.">
            <a:extLst>
              <a:ext uri="{FF2B5EF4-FFF2-40B4-BE49-F238E27FC236}">
                <a16:creationId xmlns:a16="http://schemas.microsoft.com/office/drawing/2014/main" id="{FD36C6EE-73E6-39A5-41FB-720A96A5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732" y="3357367"/>
            <a:ext cx="5712096" cy="2856048"/>
          </a:xfrm>
          <a:prstGeom prst="rect">
            <a:avLst/>
          </a:prstGeom>
        </p:spPr>
      </p:pic>
      <p:pic>
        <p:nvPicPr>
          <p:cNvPr id="10" name="Billede 9" descr="Et billede, der indeholder linje/række, diagram, Kurve, tekst&#10;&#10;AI-genereret indhold kan være ukorrekt.">
            <a:extLst>
              <a:ext uri="{FF2B5EF4-FFF2-40B4-BE49-F238E27FC236}">
                <a16:creationId xmlns:a16="http://schemas.microsoft.com/office/drawing/2014/main" id="{1E39D775-F90C-FF17-789B-8EB899532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967"/>
          <a:stretch>
            <a:fillRect/>
          </a:stretch>
        </p:blipFill>
        <p:spPr>
          <a:xfrm>
            <a:off x="0" y="2983026"/>
            <a:ext cx="6000109" cy="3295572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9A6CF515-85FC-A604-B602-1E98CBCE9AE3}"/>
              </a:ext>
            </a:extLst>
          </p:cNvPr>
          <p:cNvSpPr/>
          <p:nvPr/>
        </p:nvSpPr>
        <p:spPr>
          <a:xfrm>
            <a:off x="588963" y="1628776"/>
            <a:ext cx="11012487" cy="1365008"/>
          </a:xfrm>
          <a:prstGeom prst="rect">
            <a:avLst/>
          </a:prstGeom>
          <a:noFill/>
          <a:ln w="6350">
            <a:noFill/>
          </a:ln>
        </p:spPr>
        <p:txBody>
          <a:bodyPr wrap="square" rtlCol="0" anchor="t">
            <a:noAutofit/>
          </a:bodyPr>
          <a:lstStyle/>
          <a:p>
            <a:pPr algn="l"/>
            <a:r>
              <a:rPr lang="da-DK" dirty="0">
                <a:sym typeface="Wingdings" pitchFamily="2" charset="2"/>
              </a:rPr>
              <a:t>Six assets: SP500, NASDAQ, Gold, US Real </a:t>
            </a:r>
            <a:r>
              <a:rPr lang="da-DK" dirty="0" err="1">
                <a:sym typeface="Wingdings" pitchFamily="2" charset="2"/>
              </a:rPr>
              <a:t>Estate</a:t>
            </a:r>
            <a:r>
              <a:rPr lang="da-DK" dirty="0">
                <a:sym typeface="Wingdings" pitchFamily="2" charset="2"/>
              </a:rPr>
              <a:t> ETF, US 20-year T-</a:t>
            </a:r>
            <a:r>
              <a:rPr lang="da-DK" dirty="0" err="1">
                <a:sym typeface="Wingdings" pitchFamily="2" charset="2"/>
              </a:rPr>
              <a:t>bond</a:t>
            </a:r>
            <a:r>
              <a:rPr lang="da-DK" dirty="0">
                <a:sym typeface="Wingdings" pitchFamily="2" charset="2"/>
              </a:rPr>
              <a:t> ETF, </a:t>
            </a:r>
            <a:r>
              <a:rPr lang="da-DK" dirty="0" err="1">
                <a:sym typeface="Wingdings" pitchFamily="2" charset="2"/>
              </a:rPr>
              <a:t>Emerging</a:t>
            </a:r>
            <a:r>
              <a:rPr lang="da-DK" dirty="0">
                <a:sym typeface="Wingdings" pitchFamily="2" charset="2"/>
              </a:rPr>
              <a:t> Markets ETF</a:t>
            </a:r>
          </a:p>
          <a:p>
            <a:pPr algn="l"/>
            <a:r>
              <a:rPr lang="da-DK" dirty="0">
                <a:sym typeface="Wingdings" pitchFamily="2" charset="2"/>
              </a:rPr>
              <a:t>Here: SP500</a:t>
            </a:r>
          </a:p>
          <a:p>
            <a:pPr algn="l"/>
            <a:endParaRPr lang="da-DK" dirty="0">
              <a:sym typeface="Wingdings" pitchFamily="2" charset="2"/>
            </a:endParaRPr>
          </a:p>
          <a:p>
            <a:pPr algn="l"/>
            <a:r>
              <a:rPr lang="da-DK" dirty="0" err="1">
                <a:sym typeface="Wingdings" pitchFamily="2" charset="2"/>
              </a:rPr>
              <a:t>Largest</a:t>
            </a:r>
            <a:r>
              <a:rPr lang="da-DK" dirty="0">
                <a:sym typeface="Wingdings" pitchFamily="2" charset="2"/>
              </a:rPr>
              <a:t> jump in </a:t>
            </a:r>
            <a:r>
              <a:rPr lang="da-DK" dirty="0" err="1">
                <a:sym typeface="Wingdings" pitchFamily="2" charset="2"/>
              </a:rPr>
              <a:t>eigenvalue</a:t>
            </a:r>
            <a:r>
              <a:rPr lang="da-DK" dirty="0">
                <a:sym typeface="Wingdings" pitchFamily="2" charset="2"/>
              </a:rPr>
              <a:t> = 5  5 clusters</a:t>
            </a:r>
          </a:p>
        </p:txBody>
      </p:sp>
    </p:spTree>
    <p:extLst>
      <p:ext uri="{BB962C8B-B14F-4D97-AF65-F5344CB8AC3E}">
        <p14:creationId xmlns:p14="http://schemas.microsoft.com/office/powerpoint/2010/main" val="97463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C450F-1571-CAF9-FD1C-507E34A3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E8626-7A20-31D2-049D-5D0DA227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Results – real-</a:t>
            </a:r>
            <a:r>
              <a:rPr lang="da-DK" dirty="0" err="1"/>
              <a:t>world</a:t>
            </a:r>
            <a:r>
              <a:rPr lang="da-DK" dirty="0"/>
              <a:t> data (2/2)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D11C478-2FC2-DD61-4986-FA2CC037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0CF0734-6FDE-DE58-4C83-9C6178FF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10</a:t>
            </a:fld>
            <a:endParaRPr lang="en-GB" dirty="0"/>
          </a:p>
        </p:txBody>
      </p:sp>
      <p:pic>
        <p:nvPicPr>
          <p:cNvPr id="8" name="Billede 7" descr="Et billede, der indeholder Kurve, skærmbillede, linje/række, diagram&#10;&#10;AI-genereret indhold kan være ukorrekt.">
            <a:extLst>
              <a:ext uri="{FF2B5EF4-FFF2-40B4-BE49-F238E27FC236}">
                <a16:creationId xmlns:a16="http://schemas.microsoft.com/office/drawing/2014/main" id="{E7B94F2C-3346-3879-A1FA-3705132B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590" y="1919762"/>
            <a:ext cx="8071235" cy="4035618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9DDACE75-F4B8-5071-65BE-B267A4F3A851}"/>
              </a:ext>
            </a:extLst>
          </p:cNvPr>
          <p:cNvSpPr txBox="1"/>
          <p:nvPr/>
        </p:nvSpPr>
        <p:spPr>
          <a:xfrm>
            <a:off x="5120105" y="6020238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One </a:t>
            </a:r>
            <a:r>
              <a:rPr lang="da-DK" dirty="0" err="1"/>
              <a:t>could</a:t>
            </a:r>
            <a:r>
              <a:rPr lang="da-DK" dirty="0"/>
              <a:t> stop </a:t>
            </a:r>
            <a:r>
              <a:rPr lang="da-DK" dirty="0" err="1"/>
              <a:t>here</a:t>
            </a:r>
            <a:r>
              <a:rPr lang="da-DK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98985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6458A3-1F51-3DCE-8074-17DC0A5D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Trading </a:t>
            </a:r>
            <a:r>
              <a:rPr lang="da-DK" dirty="0" err="1"/>
              <a:t>strategy</a:t>
            </a:r>
            <a:r>
              <a:rPr lang="da-DK" dirty="0"/>
              <a:t> and </a:t>
            </a:r>
            <a:r>
              <a:rPr lang="da-DK" dirty="0" err="1"/>
              <a:t>backtesting</a:t>
            </a:r>
            <a:r>
              <a:rPr lang="da-DK" dirty="0"/>
              <a:t> (</a:t>
            </a:r>
            <a:r>
              <a:rPr lang="da-DK" dirty="0" err="1"/>
              <a:t>algorithm</a:t>
            </a:r>
            <a:r>
              <a:rPr lang="da-DK" dirty="0"/>
              <a:t>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32C51D2-B1DB-56A4-8AEA-006BA9C35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10-year in-sample </a:t>
            </a:r>
            <a:r>
              <a:rPr lang="da-DK" dirty="0" err="1"/>
              <a:t>clustering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 </a:t>
            </a:r>
            <a:r>
              <a:rPr lang="da-DK" b="1" dirty="0" err="1">
                <a:sym typeface="Wingdings" pitchFamily="2" charset="2"/>
              </a:rPr>
              <a:t>Historic</a:t>
            </a:r>
            <a:r>
              <a:rPr lang="da-DK" b="1" dirty="0">
                <a:sym typeface="Wingdings" pitchFamily="2" charset="2"/>
              </a:rPr>
              <a:t> regimes</a:t>
            </a:r>
          </a:p>
          <a:p>
            <a:r>
              <a:rPr lang="da-DK" dirty="0">
                <a:sym typeface="Wingdings" pitchFamily="2" charset="2"/>
              </a:rPr>
              <a:t>From t=0: </a:t>
            </a:r>
          </a:p>
          <a:p>
            <a:pPr lvl="1"/>
            <a:r>
              <a:rPr lang="da-DK" dirty="0" err="1">
                <a:sym typeface="Wingdings" pitchFamily="2" charset="2"/>
              </a:rPr>
              <a:t>Every</a:t>
            </a:r>
            <a:r>
              <a:rPr lang="da-DK" dirty="0">
                <a:sym typeface="Wingdings" pitchFamily="2" charset="2"/>
              </a:rPr>
              <a:t> 20 </a:t>
            </a:r>
            <a:r>
              <a:rPr lang="da-DK" dirty="0" err="1">
                <a:sym typeface="Wingdings" pitchFamily="2" charset="2"/>
              </a:rPr>
              <a:t>days</a:t>
            </a:r>
            <a:r>
              <a:rPr lang="da-DK" dirty="0">
                <a:sym typeface="Wingdings" pitchFamily="2" charset="2"/>
              </a:rPr>
              <a:t>: match </a:t>
            </a:r>
            <a:r>
              <a:rPr lang="da-DK" dirty="0" err="1">
                <a:sym typeface="Wingdings" pitchFamily="2" charset="2"/>
              </a:rPr>
              <a:t>current</a:t>
            </a:r>
            <a:r>
              <a:rPr lang="da-DK" dirty="0">
                <a:sym typeface="Wingdings" pitchFamily="2" charset="2"/>
              </a:rPr>
              <a:t> (last 20 </a:t>
            </a:r>
            <a:r>
              <a:rPr lang="da-DK" dirty="0" err="1">
                <a:sym typeface="Wingdings" pitchFamily="2" charset="2"/>
              </a:rPr>
              <a:t>days</a:t>
            </a:r>
            <a:r>
              <a:rPr lang="da-DK" dirty="0">
                <a:sym typeface="Wingdings" pitchFamily="2" charset="2"/>
              </a:rPr>
              <a:t>) </a:t>
            </a:r>
            <a:r>
              <a:rPr lang="da-DK" dirty="0" err="1">
                <a:sym typeface="Wingdings" pitchFamily="2" charset="2"/>
              </a:rPr>
              <a:t>probability</a:t>
            </a:r>
            <a:r>
              <a:rPr lang="da-DK" dirty="0">
                <a:sym typeface="Wingdings" pitchFamily="2" charset="2"/>
              </a:rPr>
              <a:t> distribution to most </a:t>
            </a:r>
            <a:r>
              <a:rPr lang="da-DK" dirty="0" err="1">
                <a:sym typeface="Wingdings" pitchFamily="2" charset="2"/>
              </a:rPr>
              <a:t>similar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historic</a:t>
            </a:r>
            <a:r>
              <a:rPr lang="da-DK" dirty="0">
                <a:sym typeface="Wingdings" pitchFamily="2" charset="2"/>
              </a:rPr>
              <a:t> regime  </a:t>
            </a:r>
            <a:r>
              <a:rPr lang="da-DK" b="1" dirty="0" err="1">
                <a:sym typeface="Wingdings" pitchFamily="2" charset="2"/>
              </a:rPr>
              <a:t>Current</a:t>
            </a:r>
            <a:r>
              <a:rPr lang="da-DK" b="1" dirty="0">
                <a:sym typeface="Wingdings" pitchFamily="2" charset="2"/>
              </a:rPr>
              <a:t> regime</a:t>
            </a:r>
          </a:p>
          <a:p>
            <a:pPr lvl="1"/>
            <a:r>
              <a:rPr lang="da-DK" dirty="0" err="1">
                <a:sym typeface="Wingdings" pitchFamily="2" charset="2"/>
              </a:rPr>
              <a:t>Collect</a:t>
            </a:r>
            <a:r>
              <a:rPr lang="da-DK" dirty="0">
                <a:sym typeface="Wingdings" pitchFamily="2" charset="2"/>
              </a:rPr>
              <a:t> the </a:t>
            </a:r>
            <a:r>
              <a:rPr lang="da-DK" b="1" dirty="0">
                <a:sym typeface="Wingdings" pitchFamily="2" charset="2"/>
              </a:rPr>
              <a:t>actions</a:t>
            </a:r>
            <a:r>
              <a:rPr lang="da-DK" dirty="0">
                <a:sym typeface="Wingdings" pitchFamily="2" charset="2"/>
              </a:rPr>
              <a:t> of all assets</a:t>
            </a:r>
          </a:p>
          <a:p>
            <a:pPr lvl="1"/>
            <a:r>
              <a:rPr lang="da-DK" dirty="0" err="1">
                <a:sym typeface="Wingdings" pitchFamily="2" charset="2"/>
              </a:rPr>
              <a:t>Compute</a:t>
            </a:r>
            <a:r>
              <a:rPr lang="da-DK" dirty="0">
                <a:sym typeface="Wingdings" pitchFamily="2" charset="2"/>
              </a:rPr>
              <a:t> the resulting </a:t>
            </a:r>
            <a:r>
              <a:rPr lang="da-DK" b="1" dirty="0" err="1">
                <a:sym typeface="Wingdings" pitchFamily="2" charset="2"/>
              </a:rPr>
              <a:t>weights</a:t>
            </a:r>
            <a:endParaRPr lang="da-DK" b="1" dirty="0">
              <a:sym typeface="Wingdings" pitchFamily="2" charset="2"/>
            </a:endParaRPr>
          </a:p>
          <a:p>
            <a:pPr lvl="1"/>
            <a:r>
              <a:rPr lang="da-DK" dirty="0" err="1">
                <a:sym typeface="Wingdings" pitchFamily="2" charset="2"/>
              </a:rPr>
              <a:t>Repeat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every</a:t>
            </a:r>
            <a:r>
              <a:rPr lang="da-DK" dirty="0">
                <a:sym typeface="Wingdings" pitchFamily="2" charset="2"/>
              </a:rPr>
              <a:t> 20 </a:t>
            </a:r>
            <a:r>
              <a:rPr lang="da-DK" dirty="0" err="1">
                <a:sym typeface="Wingdings" pitchFamily="2" charset="2"/>
              </a:rPr>
              <a:t>days</a:t>
            </a:r>
            <a:endParaRPr lang="da-DK" dirty="0">
              <a:sym typeface="Wingdings" pitchFamily="2" charset="2"/>
            </a:endParaRPr>
          </a:p>
          <a:p>
            <a:pPr marL="360363" lvl="1" indent="0">
              <a:buNone/>
            </a:pPr>
            <a:endParaRPr lang="da-DK" dirty="0">
              <a:sym typeface="Wingdings" pitchFamily="2" charset="2"/>
            </a:endParaRPr>
          </a:p>
          <a:p>
            <a:pPr marL="360363" lvl="1" indent="0">
              <a:buNone/>
            </a:pPr>
            <a:endParaRPr lang="da-DK" dirty="0">
              <a:sym typeface="Wingdings" pitchFamily="2" charset="2"/>
            </a:endParaRPr>
          </a:p>
          <a:p>
            <a:pPr marL="360363" lvl="1" indent="0">
              <a:buNone/>
            </a:pPr>
            <a:endParaRPr lang="da-DK" dirty="0"/>
          </a:p>
          <a:p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DC72BE8-DB9E-8755-E57B-BC612E59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A8A8-9DAA-499A-8FC3-E3166163C612}" type="datetime1">
              <a:rPr lang="en-GB" smtClean="0"/>
              <a:t>28/11/2025</a:t>
            </a:fld>
            <a:endParaRPr lang="en-GB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4B9769B-0CFA-4089-7884-B5FF8B17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11</a:t>
            </a:fld>
            <a:endParaRPr lang="en-GB" dirty="0"/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A92B9E36-9BAD-019F-D75A-5FFC88A9C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846133"/>
              </p:ext>
            </p:extLst>
          </p:nvPr>
        </p:nvGraphicFramePr>
        <p:xfrm>
          <a:off x="1633619" y="4627755"/>
          <a:ext cx="2546264" cy="1563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66">
                  <a:extLst>
                    <a:ext uri="{9D8B030D-6E8A-4147-A177-3AD203B41FA5}">
                      <a16:colId xmlns:a16="http://schemas.microsoft.com/office/drawing/2014/main" val="2299403447"/>
                    </a:ext>
                  </a:extLst>
                </a:gridCol>
                <a:gridCol w="636566">
                  <a:extLst>
                    <a:ext uri="{9D8B030D-6E8A-4147-A177-3AD203B41FA5}">
                      <a16:colId xmlns:a16="http://schemas.microsoft.com/office/drawing/2014/main" val="2361487433"/>
                    </a:ext>
                  </a:extLst>
                </a:gridCol>
                <a:gridCol w="636566">
                  <a:extLst>
                    <a:ext uri="{9D8B030D-6E8A-4147-A177-3AD203B41FA5}">
                      <a16:colId xmlns:a16="http://schemas.microsoft.com/office/drawing/2014/main" val="1750202061"/>
                    </a:ext>
                  </a:extLst>
                </a:gridCol>
                <a:gridCol w="636566">
                  <a:extLst>
                    <a:ext uri="{9D8B030D-6E8A-4147-A177-3AD203B41FA5}">
                      <a16:colId xmlns:a16="http://schemas.microsoft.com/office/drawing/2014/main" val="4063096537"/>
                    </a:ext>
                  </a:extLst>
                </a:gridCol>
              </a:tblGrid>
              <a:tr h="390777">
                <a:tc>
                  <a:txBody>
                    <a:bodyPr/>
                    <a:lstStyle/>
                    <a:p>
                      <a:pPr algn="l"/>
                      <a:r>
                        <a:rPr lang="da-DK" sz="800" dirty="0" err="1"/>
                        <a:t>Historic</a:t>
                      </a:r>
                      <a:r>
                        <a:rPr lang="da-DK" sz="800" dirty="0"/>
                        <a:t> </a:t>
                      </a:r>
                    </a:p>
                    <a:p>
                      <a:pPr algn="l"/>
                      <a:r>
                        <a:rPr lang="da-DK" sz="800" dirty="0"/>
                        <a:t>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Regime</a:t>
                      </a:r>
                    </a:p>
                    <a:p>
                      <a:pPr algn="ctr"/>
                      <a:r>
                        <a:rPr lang="da-DK" sz="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800" dirty="0"/>
                        <a:t>Regime</a:t>
                      </a:r>
                    </a:p>
                    <a:p>
                      <a:pPr algn="ctr"/>
                      <a:r>
                        <a:rPr lang="da-DK" sz="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800" dirty="0"/>
                        <a:t>Regime</a:t>
                      </a:r>
                    </a:p>
                    <a:p>
                      <a:pPr algn="ctr"/>
                      <a:r>
                        <a:rPr lang="da-DK" sz="8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974233"/>
                  </a:ext>
                </a:extLst>
              </a:tr>
              <a:tr h="390777">
                <a:tc>
                  <a:txBody>
                    <a:bodyPr/>
                    <a:lstStyle/>
                    <a:p>
                      <a:pPr algn="l"/>
                      <a:r>
                        <a:rPr lang="da-DK" sz="800" dirty="0"/>
                        <a:t>Asset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+2%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+1%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-5%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085817"/>
                  </a:ext>
                </a:extLst>
              </a:tr>
              <a:tr h="390777">
                <a:tc>
                  <a:txBody>
                    <a:bodyPr/>
                    <a:lstStyle/>
                    <a:p>
                      <a:pPr algn="l"/>
                      <a:r>
                        <a:rPr lang="da-DK" sz="800" dirty="0"/>
                        <a:t>Asset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-5%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+3%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247573"/>
                  </a:ext>
                </a:extLst>
              </a:tr>
              <a:tr h="390777">
                <a:tc>
                  <a:txBody>
                    <a:bodyPr/>
                    <a:lstStyle/>
                    <a:p>
                      <a:pPr algn="l"/>
                      <a:r>
                        <a:rPr lang="da-DK" sz="800" dirty="0"/>
                        <a:t>Asset…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da-DK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18835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25286AAB-D8E5-B2C7-5D16-812B78F58331}"/>
                  </a:ext>
                </a:extLst>
              </p:cNvPr>
              <p:cNvSpPr txBox="1"/>
              <p:nvPr/>
            </p:nvSpPr>
            <p:spPr>
              <a:xfrm>
                <a:off x="4532749" y="4896476"/>
                <a:ext cx="3253400" cy="1025665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𝐵𝑢𝑦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(1)</m:t>
                              </m:r>
                            </m:e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𝑆𝑒𝑙𝑙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𝐷𝑜</m:t>
                              </m:r>
                              <m:sSup>
                                <m:sSup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𝐵𝑢𝑦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(0)</m:t>
                              </m:r>
                            </m:e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𝑆𝑒𝑙𝑙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𝑠h𝑜𝑟𝑡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(−1)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a-DK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Tekstfelt 6">
                <a:extLst>
                  <a:ext uri="{FF2B5EF4-FFF2-40B4-BE49-F238E27FC236}">
                    <a16:creationId xmlns:a16="http://schemas.microsoft.com/office/drawing/2014/main" id="{25286AAB-D8E5-B2C7-5D16-812B78F58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749" y="4896476"/>
                <a:ext cx="3253400" cy="1025665"/>
              </a:xfrm>
              <a:prstGeom prst="rect">
                <a:avLst/>
              </a:prstGeom>
              <a:blipFill>
                <a:blip r:embed="rId2"/>
                <a:stretch>
                  <a:fillRect l="-33984" t="-231707" b="-3268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4B80ECDE-8A9C-8E71-8CFE-E1A977DBB6A8}"/>
              </a:ext>
            </a:extLst>
          </p:cNvPr>
          <p:cNvCxnSpPr>
            <a:cxnSpLocks/>
          </p:cNvCxnSpPr>
          <p:nvPr/>
        </p:nvCxnSpPr>
        <p:spPr>
          <a:xfrm>
            <a:off x="7515543" y="5425445"/>
            <a:ext cx="46315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ge pilforbindelse 12">
            <a:extLst>
              <a:ext uri="{FF2B5EF4-FFF2-40B4-BE49-F238E27FC236}">
                <a16:creationId xmlns:a16="http://schemas.microsoft.com/office/drawing/2014/main" id="{AF36A1B1-672E-57CC-37C5-B4CEDFF30445}"/>
              </a:ext>
            </a:extLst>
          </p:cNvPr>
          <p:cNvCxnSpPr>
            <a:cxnSpLocks/>
          </p:cNvCxnSpPr>
          <p:nvPr/>
        </p:nvCxnSpPr>
        <p:spPr>
          <a:xfrm>
            <a:off x="4301172" y="5425445"/>
            <a:ext cx="46315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A93C78BB-0672-5251-81FC-F69D01EB0386}"/>
                  </a:ext>
                </a:extLst>
              </p:cNvPr>
              <p:cNvSpPr txBox="1"/>
              <p:nvPr/>
            </p:nvSpPr>
            <p:spPr>
              <a:xfrm>
                <a:off x="8054913" y="4782352"/>
                <a:ext cx="2207017" cy="1286186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𝑎𝑐𝑡𝑖𝑜</m:t>
                                  </m:r>
                                  <m:sSubSup>
                                    <m:sSubSupPr>
                                      <m:ctrlPr>
                                        <a:rPr lang="da-DK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a-DK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den>
                      </m:f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da-DK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kstfelt 13">
                <a:extLst>
                  <a:ext uri="{FF2B5EF4-FFF2-40B4-BE49-F238E27FC236}">
                    <a16:creationId xmlns:a16="http://schemas.microsoft.com/office/drawing/2014/main" id="{A93C78BB-0672-5251-81FC-F69D01EB0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913" y="4782352"/>
                <a:ext cx="2207017" cy="1286186"/>
              </a:xfrm>
              <a:prstGeom prst="rect">
                <a:avLst/>
              </a:prstGeom>
              <a:blipFill>
                <a:blip r:embed="rId3"/>
                <a:stretch>
                  <a:fillRect l="-28736" t="-29412" b="-10490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78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BD37AC-13D7-6364-08B8-4883A930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Trading </a:t>
            </a:r>
            <a:r>
              <a:rPr lang="da-DK" dirty="0" err="1"/>
              <a:t>strategy</a:t>
            </a:r>
            <a:r>
              <a:rPr lang="da-DK" dirty="0"/>
              <a:t> and </a:t>
            </a:r>
            <a:r>
              <a:rPr lang="da-DK" dirty="0" err="1"/>
              <a:t>backtesting</a:t>
            </a:r>
            <a:r>
              <a:rPr lang="da-DK" dirty="0"/>
              <a:t> (</a:t>
            </a:r>
            <a:r>
              <a:rPr lang="da-DK" dirty="0" err="1"/>
              <a:t>algorithm</a:t>
            </a:r>
            <a:r>
              <a:rPr lang="da-DK" dirty="0"/>
              <a:t>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9CFB8EE-3C05-05E0-F4E4-58C6DC2B9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BCA6FCF-6769-C6B2-3D09-27628C69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12</a:t>
            </a:fld>
            <a:endParaRPr lang="en-GB" dirty="0"/>
          </a:p>
        </p:txBody>
      </p:sp>
      <p:grpSp>
        <p:nvGrpSpPr>
          <p:cNvPr id="62" name="Gruppe 61">
            <a:extLst>
              <a:ext uri="{FF2B5EF4-FFF2-40B4-BE49-F238E27FC236}">
                <a16:creationId xmlns:a16="http://schemas.microsoft.com/office/drawing/2014/main" id="{7D92FF9D-BFCB-B338-E431-06488C0143F2}"/>
              </a:ext>
            </a:extLst>
          </p:cNvPr>
          <p:cNvGrpSpPr/>
          <p:nvPr/>
        </p:nvGrpSpPr>
        <p:grpSpPr>
          <a:xfrm>
            <a:off x="769654" y="2457068"/>
            <a:ext cx="6338061" cy="2854144"/>
            <a:chOff x="1427202" y="3094064"/>
            <a:chExt cx="3996444" cy="1799673"/>
          </a:xfrm>
        </p:grpSpPr>
        <p:cxnSp>
          <p:nvCxnSpPr>
            <p:cNvPr id="6" name="Lige forbindelse 5">
              <a:extLst>
                <a:ext uri="{FF2B5EF4-FFF2-40B4-BE49-F238E27FC236}">
                  <a16:creationId xmlns:a16="http://schemas.microsoft.com/office/drawing/2014/main" id="{80F4BDCC-2E6B-81B3-E63D-20682C0F366E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3546887" y="3686503"/>
              <a:ext cx="1815975" cy="1135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D5357E0-1767-35CB-DC9B-FEFD96E034E8}"/>
                </a:ext>
              </a:extLst>
            </p:cNvPr>
            <p:cNvSpPr/>
            <p:nvPr/>
          </p:nvSpPr>
          <p:spPr>
            <a:xfrm>
              <a:off x="3487270" y="3654707"/>
              <a:ext cx="59618" cy="635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lang="da-DK" sz="1100" dirty="0" err="1">
                <a:solidFill>
                  <a:schemeClr val="bg1"/>
                </a:solidFill>
              </a:endParaRP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64239175-D188-AAFA-132A-DA8DC3FBBEEA}"/>
                </a:ext>
              </a:extLst>
            </p:cNvPr>
            <p:cNvSpPr/>
            <p:nvPr/>
          </p:nvSpPr>
          <p:spPr>
            <a:xfrm>
              <a:off x="4043544" y="3654707"/>
              <a:ext cx="59618" cy="635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lang="da-DK" sz="1100" dirty="0" err="1">
                <a:solidFill>
                  <a:schemeClr val="bg1"/>
                </a:solidFill>
              </a:endParaRP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7AD3BC66-ABD1-ECA6-4C46-0672815107FE}"/>
                </a:ext>
              </a:extLst>
            </p:cNvPr>
            <p:cNvSpPr/>
            <p:nvPr/>
          </p:nvSpPr>
          <p:spPr>
            <a:xfrm>
              <a:off x="4599819" y="3666344"/>
              <a:ext cx="59618" cy="635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lang="da-DK" sz="11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Venstre klammeparentes 13">
              <a:extLst>
                <a:ext uri="{FF2B5EF4-FFF2-40B4-BE49-F238E27FC236}">
                  <a16:creationId xmlns:a16="http://schemas.microsoft.com/office/drawing/2014/main" id="{1BB16117-5B7E-7913-B84E-1AEEAF3483DD}"/>
                </a:ext>
              </a:extLst>
            </p:cNvPr>
            <p:cNvSpPr/>
            <p:nvPr/>
          </p:nvSpPr>
          <p:spPr>
            <a:xfrm rot="16200000">
              <a:off x="2398592" y="2909046"/>
              <a:ext cx="146923" cy="2089703"/>
            </a:xfrm>
            <a:prstGeom prst="leftBrace">
              <a:avLst/>
            </a:prstGeom>
            <a:ln w="12700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 sz="1100"/>
            </a:p>
          </p:txBody>
        </p:sp>
        <p:sp>
          <p:nvSpPr>
            <p:cNvPr id="21" name="Tekstfelt 20">
              <a:extLst>
                <a:ext uri="{FF2B5EF4-FFF2-40B4-BE49-F238E27FC236}">
                  <a16:creationId xmlns:a16="http://schemas.microsoft.com/office/drawing/2014/main" id="{638C9FCF-6923-549C-B6B8-8A36BFA4762B}"/>
                </a:ext>
              </a:extLst>
            </p:cNvPr>
            <p:cNvSpPr txBox="1"/>
            <p:nvPr/>
          </p:nvSpPr>
          <p:spPr>
            <a:xfrm>
              <a:off x="3487270" y="3094594"/>
              <a:ext cx="968188" cy="106737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a-DK" sz="1100" b="0" i="1" dirty="0" err="1">
                  <a:solidFill>
                    <a:schemeClr val="tx1"/>
                  </a:solidFill>
                  <a:latin typeface="+mn-lt"/>
                </a:rPr>
                <a:t>Current</a:t>
              </a:r>
              <a:r>
                <a:rPr lang="da-DK" sz="1100" b="0" i="1" dirty="0">
                  <a:solidFill>
                    <a:schemeClr val="tx1"/>
                  </a:solidFill>
                  <a:latin typeface="+mn-lt"/>
                </a:rPr>
                <a:t> regime, t</a:t>
              </a:r>
              <a:r>
                <a:rPr lang="da-DK" sz="1100" b="0" i="1" baseline="-25000" dirty="0">
                  <a:solidFill>
                    <a:schemeClr val="tx1"/>
                  </a:solidFill>
                  <a:latin typeface="+mn-lt"/>
                </a:rPr>
                <a:t>1</a:t>
              </a:r>
            </a:p>
          </p:txBody>
        </p:sp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FFC63D9A-9716-1990-CD93-4F0934D4F620}"/>
                </a:ext>
              </a:extLst>
            </p:cNvPr>
            <p:cNvSpPr txBox="1"/>
            <p:nvPr/>
          </p:nvSpPr>
          <p:spPr>
            <a:xfrm>
              <a:off x="4455458" y="3094064"/>
              <a:ext cx="968188" cy="106737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a-DK" sz="1100" b="0" i="1" dirty="0" err="1">
                  <a:solidFill>
                    <a:schemeClr val="tx1"/>
                  </a:solidFill>
                  <a:latin typeface="+mn-lt"/>
                </a:rPr>
                <a:t>Current</a:t>
              </a:r>
              <a:r>
                <a:rPr lang="da-DK" sz="1100" b="0" i="1" dirty="0">
                  <a:solidFill>
                    <a:schemeClr val="tx1"/>
                  </a:solidFill>
                  <a:latin typeface="+mn-lt"/>
                </a:rPr>
                <a:t> regime, t</a:t>
              </a:r>
              <a:r>
                <a:rPr lang="da-DK" sz="1100" i="1" baseline="-25000" dirty="0"/>
                <a:t>2</a:t>
              </a:r>
              <a:endParaRPr lang="da-DK" sz="1100" b="0" i="1" baseline="-25000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4" name="Lige pilforbindelse 23">
              <a:extLst>
                <a:ext uri="{FF2B5EF4-FFF2-40B4-BE49-F238E27FC236}">
                  <a16:creationId xmlns:a16="http://schemas.microsoft.com/office/drawing/2014/main" id="{C58BE479-A3D1-8BBF-9BDD-B7796588E017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3971364" y="3201331"/>
              <a:ext cx="101989" cy="40980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Lige pilforbindelse 26">
              <a:extLst>
                <a:ext uri="{FF2B5EF4-FFF2-40B4-BE49-F238E27FC236}">
                  <a16:creationId xmlns:a16="http://schemas.microsoft.com/office/drawing/2014/main" id="{2567D0C2-B6CD-93FC-682D-815B8BBC59DD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 flipH="1">
              <a:off x="4620663" y="3200801"/>
              <a:ext cx="318889" cy="43903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Venstre klammeparentes 36">
              <a:extLst>
                <a:ext uri="{FF2B5EF4-FFF2-40B4-BE49-F238E27FC236}">
                  <a16:creationId xmlns:a16="http://schemas.microsoft.com/office/drawing/2014/main" id="{B2B1EAC2-4A70-9666-1366-14CF524C0CEE}"/>
                </a:ext>
              </a:extLst>
            </p:cNvPr>
            <p:cNvSpPr/>
            <p:nvPr/>
          </p:nvSpPr>
          <p:spPr>
            <a:xfrm rot="5400000">
              <a:off x="3751090" y="3300649"/>
              <a:ext cx="88251" cy="556274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 sz="1100"/>
            </a:p>
          </p:txBody>
        </p:sp>
        <p:sp>
          <p:nvSpPr>
            <p:cNvPr id="38" name="Venstre klammeparentes 37">
              <a:extLst>
                <a:ext uri="{FF2B5EF4-FFF2-40B4-BE49-F238E27FC236}">
                  <a16:creationId xmlns:a16="http://schemas.microsoft.com/office/drawing/2014/main" id="{EBF0218A-412A-5A28-903D-7F98AD4DFDA9}"/>
                </a:ext>
              </a:extLst>
            </p:cNvPr>
            <p:cNvSpPr/>
            <p:nvPr/>
          </p:nvSpPr>
          <p:spPr>
            <a:xfrm rot="5400000">
              <a:off x="4307365" y="3300649"/>
              <a:ext cx="88251" cy="556274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 sz="1100"/>
            </a:p>
          </p:txBody>
        </p:sp>
        <p:sp>
          <p:nvSpPr>
            <p:cNvPr id="39" name="Tekstfelt 38">
              <a:extLst>
                <a:ext uri="{FF2B5EF4-FFF2-40B4-BE49-F238E27FC236}">
                  <a16:creationId xmlns:a16="http://schemas.microsoft.com/office/drawing/2014/main" id="{A2152D10-AB3E-63E6-74CC-03A6AF73AFC9}"/>
                </a:ext>
              </a:extLst>
            </p:cNvPr>
            <p:cNvSpPr txBox="1"/>
            <p:nvPr/>
          </p:nvSpPr>
          <p:spPr>
            <a:xfrm>
              <a:off x="3219390" y="3398203"/>
              <a:ext cx="968188" cy="106737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a-DK" sz="1100" b="0" i="1" dirty="0">
                  <a:solidFill>
                    <a:schemeClr val="tx1"/>
                  </a:solidFill>
                  <a:latin typeface="+mn-lt"/>
                </a:rPr>
                <a:t>20-day lookback</a:t>
              </a:r>
              <a:endParaRPr lang="da-DK" sz="1100" b="0" i="1" baseline="-25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Tekstfelt 39">
              <a:extLst>
                <a:ext uri="{FF2B5EF4-FFF2-40B4-BE49-F238E27FC236}">
                  <a16:creationId xmlns:a16="http://schemas.microsoft.com/office/drawing/2014/main" id="{B3BE5EC2-F246-CE8B-8637-72CDD3EDBCDA}"/>
                </a:ext>
              </a:extLst>
            </p:cNvPr>
            <p:cNvSpPr txBox="1"/>
            <p:nvPr/>
          </p:nvSpPr>
          <p:spPr>
            <a:xfrm>
              <a:off x="3219390" y="4680263"/>
              <a:ext cx="968188" cy="213474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a-DK" sz="1100" i="1" dirty="0" err="1"/>
                <a:t>Updated</a:t>
              </a:r>
              <a:r>
                <a:rPr lang="da-DK" sz="1100" i="1" dirty="0"/>
                <a:t> 10-year</a:t>
              </a:r>
              <a:r>
                <a:rPr lang="da-DK" sz="1100" b="0" i="1" dirty="0">
                  <a:solidFill>
                    <a:schemeClr val="tx1"/>
                  </a:solidFill>
                  <a:latin typeface="+mn-lt"/>
                </a:rPr>
                <a:t> lookback</a:t>
              </a:r>
              <a:endParaRPr lang="da-DK" sz="1100" b="0" i="1" baseline="-25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Venstre klammeparentes 41">
              <a:extLst>
                <a:ext uri="{FF2B5EF4-FFF2-40B4-BE49-F238E27FC236}">
                  <a16:creationId xmlns:a16="http://schemas.microsoft.com/office/drawing/2014/main" id="{C86A7367-0A12-8EA6-B01E-420FB93D1AA1}"/>
                </a:ext>
              </a:extLst>
            </p:cNvPr>
            <p:cNvSpPr/>
            <p:nvPr/>
          </p:nvSpPr>
          <p:spPr>
            <a:xfrm rot="16200000">
              <a:off x="2955040" y="3212506"/>
              <a:ext cx="146923" cy="2089703"/>
            </a:xfrm>
            <a:prstGeom prst="leftBrace">
              <a:avLst/>
            </a:prstGeom>
            <a:ln w="12700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 sz="1100"/>
            </a:p>
          </p:txBody>
        </p:sp>
        <p:sp>
          <p:nvSpPr>
            <p:cNvPr id="43" name="Venstre klammeparentes 42">
              <a:extLst>
                <a:ext uri="{FF2B5EF4-FFF2-40B4-BE49-F238E27FC236}">
                  <a16:creationId xmlns:a16="http://schemas.microsoft.com/office/drawing/2014/main" id="{7425926D-F761-33C5-53E5-8E34D59D77A2}"/>
                </a:ext>
              </a:extLst>
            </p:cNvPr>
            <p:cNvSpPr/>
            <p:nvPr/>
          </p:nvSpPr>
          <p:spPr>
            <a:xfrm rot="16200000">
              <a:off x="3515050" y="3459492"/>
              <a:ext cx="146923" cy="2089703"/>
            </a:xfrm>
            <a:prstGeom prst="leftBrace">
              <a:avLst/>
            </a:prstGeom>
            <a:ln w="12700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 sz="1100"/>
            </a:p>
          </p:txBody>
        </p:sp>
        <p:cxnSp>
          <p:nvCxnSpPr>
            <p:cNvPr id="45" name="Lige forbindelse 44">
              <a:extLst>
                <a:ext uri="{FF2B5EF4-FFF2-40B4-BE49-F238E27FC236}">
                  <a16:creationId xmlns:a16="http://schemas.microsoft.com/office/drawing/2014/main" id="{297090E7-DDD5-C910-2B6E-B818F877CA88}"/>
                </a:ext>
              </a:extLst>
            </p:cNvPr>
            <p:cNvCxnSpPr>
              <a:cxnSpLocks/>
              <a:stCxn id="14" idx="2"/>
              <a:endCxn id="10" idx="4"/>
            </p:cNvCxnSpPr>
            <p:nvPr/>
          </p:nvCxnSpPr>
          <p:spPr>
            <a:xfrm flipV="1">
              <a:off x="3516905" y="3718299"/>
              <a:ext cx="174" cy="162137"/>
            </a:xfrm>
            <a:prstGeom prst="line">
              <a:avLst/>
            </a:prstGeom>
            <a:ln w="12700">
              <a:solidFill>
                <a:srgbClr val="7F7F7F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Lige forbindelse 48">
              <a:extLst>
                <a:ext uri="{FF2B5EF4-FFF2-40B4-BE49-F238E27FC236}">
                  <a16:creationId xmlns:a16="http://schemas.microsoft.com/office/drawing/2014/main" id="{778AF066-0F26-83B2-D6A0-71C1BC2DF4CC}"/>
                </a:ext>
              </a:extLst>
            </p:cNvPr>
            <p:cNvCxnSpPr>
              <a:cxnSpLocks/>
              <a:stCxn id="42" idx="2"/>
              <a:endCxn id="12" idx="4"/>
            </p:cNvCxnSpPr>
            <p:nvPr/>
          </p:nvCxnSpPr>
          <p:spPr>
            <a:xfrm flipV="1">
              <a:off x="4073353" y="3718299"/>
              <a:ext cx="0" cy="465597"/>
            </a:xfrm>
            <a:prstGeom prst="line">
              <a:avLst/>
            </a:prstGeom>
            <a:ln w="12700">
              <a:solidFill>
                <a:srgbClr val="7F7F7F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Lige forbindelse 51">
              <a:extLst>
                <a:ext uri="{FF2B5EF4-FFF2-40B4-BE49-F238E27FC236}">
                  <a16:creationId xmlns:a16="http://schemas.microsoft.com/office/drawing/2014/main" id="{041A6837-1EE0-3BD9-A7E5-88CD98D66638}"/>
                </a:ext>
              </a:extLst>
            </p:cNvPr>
            <p:cNvCxnSpPr>
              <a:cxnSpLocks/>
              <a:stCxn id="43" idx="2"/>
              <a:endCxn id="13" idx="4"/>
            </p:cNvCxnSpPr>
            <p:nvPr/>
          </p:nvCxnSpPr>
          <p:spPr>
            <a:xfrm flipH="1" flipV="1">
              <a:off x="4629628" y="3729936"/>
              <a:ext cx="3735" cy="700946"/>
            </a:xfrm>
            <a:prstGeom prst="line">
              <a:avLst/>
            </a:prstGeom>
            <a:ln w="12700">
              <a:solidFill>
                <a:srgbClr val="7F7F7F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Lige forbindelse 57">
              <a:extLst>
                <a:ext uri="{FF2B5EF4-FFF2-40B4-BE49-F238E27FC236}">
                  <a16:creationId xmlns:a16="http://schemas.microsoft.com/office/drawing/2014/main" id="{253AF224-DBC7-AD66-1993-EFB89FE35875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>
              <a:off x="1427202" y="3678231"/>
              <a:ext cx="2060068" cy="8272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kstfelt 59">
              <a:extLst>
                <a:ext uri="{FF2B5EF4-FFF2-40B4-BE49-F238E27FC236}">
                  <a16:creationId xmlns:a16="http://schemas.microsoft.com/office/drawing/2014/main" id="{2DB1F318-3110-A955-D9C7-ED706C697450}"/>
                </a:ext>
              </a:extLst>
            </p:cNvPr>
            <p:cNvSpPr txBox="1"/>
            <p:nvPr/>
          </p:nvSpPr>
          <p:spPr>
            <a:xfrm>
              <a:off x="1929758" y="3490425"/>
              <a:ext cx="1289632" cy="106737"/>
            </a:xfrm>
            <a:prstGeom prst="rect">
              <a:avLst/>
            </a:prstGeom>
            <a:ln w="12700">
              <a:noFill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a-DK" sz="11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10-year</a:t>
              </a:r>
              <a:r>
                <a:rPr lang="da-DK" sz="1100" b="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 in-sample </a:t>
              </a:r>
              <a:r>
                <a:rPr lang="da-DK" sz="1100" b="0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clustering</a:t>
              </a:r>
              <a:endParaRPr lang="da-DK" sz="1100" b="0" i="1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0FABADD6-9E1E-0CFA-ADB4-31993A5FE3E1}"/>
                </a:ext>
              </a:extLst>
            </p:cNvPr>
            <p:cNvSpPr/>
            <p:nvPr/>
          </p:nvSpPr>
          <p:spPr>
            <a:xfrm>
              <a:off x="5156093" y="3666344"/>
              <a:ext cx="59618" cy="6359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lang="da-DK" sz="11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65" name="Tekstfelt 64">
            <a:extLst>
              <a:ext uri="{FF2B5EF4-FFF2-40B4-BE49-F238E27FC236}">
                <a16:creationId xmlns:a16="http://schemas.microsoft.com/office/drawing/2014/main" id="{9C783A18-E6D1-230B-8E98-73BC48A9F3AD}"/>
              </a:ext>
            </a:extLst>
          </p:cNvPr>
          <p:cNvSpPr txBox="1"/>
          <p:nvPr/>
        </p:nvSpPr>
        <p:spPr>
          <a:xfrm>
            <a:off x="5352836" y="-1325366"/>
            <a:ext cx="65" cy="369332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wrap="non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2400" b="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06FD0CB0-F9C9-76D6-3FC2-836C198C641B}"/>
                  </a:ext>
                </a:extLst>
              </p:cNvPr>
              <p:cNvSpPr txBox="1"/>
              <p:nvPr/>
            </p:nvSpPr>
            <p:spPr>
              <a:xfrm>
                <a:off x="7914547" y="3973647"/>
                <a:ext cx="3170803" cy="1025665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Sup>
                        <m:sSub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𝐵𝑢𝑦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(1)</m:t>
                              </m:r>
                            </m:e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𝑆𝑒𝑙𝑙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𝐷𝑜</m:t>
                              </m:r>
                              <m:sSup>
                                <m:sSup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𝐵𝑢𝑦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(0)</m:t>
                              </m:r>
                            </m:e>
                            <m:e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𝑆𝑒𝑙𝑙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𝑠h𝑜𝑟𝑡</m:t>
                              </m:r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(−1)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a-DK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kstfelt 66">
                <a:extLst>
                  <a:ext uri="{FF2B5EF4-FFF2-40B4-BE49-F238E27FC236}">
                    <a16:creationId xmlns:a16="http://schemas.microsoft.com/office/drawing/2014/main" id="{06FD0CB0-F9C9-76D6-3FC2-836C198C6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547" y="3973647"/>
                <a:ext cx="3170803" cy="1025665"/>
              </a:xfrm>
              <a:prstGeom prst="rect">
                <a:avLst/>
              </a:prstGeom>
              <a:blipFill>
                <a:blip r:embed="rId2"/>
                <a:stretch>
                  <a:fillRect l="-27600" t="-231707" r="-2000" b="-32682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kstfelt 67">
                <a:extLst>
                  <a:ext uri="{FF2B5EF4-FFF2-40B4-BE49-F238E27FC236}">
                    <a16:creationId xmlns:a16="http://schemas.microsoft.com/office/drawing/2014/main" id="{8D3A283E-A18A-55E4-484C-07D803C27463}"/>
                  </a:ext>
                </a:extLst>
              </p:cNvPr>
              <p:cNvSpPr txBox="1"/>
              <p:nvPr/>
            </p:nvSpPr>
            <p:spPr>
              <a:xfrm>
                <a:off x="7914547" y="5515171"/>
                <a:ext cx="3469924" cy="672235"/>
              </a:xfrm>
              <a:prstGeom prst="rect">
                <a:avLst/>
              </a:prstGeom>
            </p:spPr>
            <p:txBody>
              <a:bodyPr vert="horz" wrap="non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𝑎𝑐𝑡𝑖𝑜</m:t>
                                  </m:r>
                                  <m:sSubSup>
                                    <m:sSubSupPr>
                                      <m:ctrlPr>
                                        <a:rPr lang="da-DK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da-DK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nary>
                        </m:den>
                      </m:f>
                      <m:r>
                        <a:rPr lang="da-DK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a-DK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da-DK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kstfelt 67">
                <a:extLst>
                  <a:ext uri="{FF2B5EF4-FFF2-40B4-BE49-F238E27FC236}">
                    <a16:creationId xmlns:a16="http://schemas.microsoft.com/office/drawing/2014/main" id="{8D3A283E-A18A-55E4-484C-07D803C27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547" y="5515171"/>
                <a:ext cx="3469924" cy="672235"/>
              </a:xfrm>
              <a:prstGeom prst="rect">
                <a:avLst/>
              </a:prstGeom>
              <a:blipFill>
                <a:blip r:embed="rId3"/>
                <a:stretch>
                  <a:fillRect t="-144444" r="-365" b="-1981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Lige pilforbindelse 71">
            <a:extLst>
              <a:ext uri="{FF2B5EF4-FFF2-40B4-BE49-F238E27FC236}">
                <a16:creationId xmlns:a16="http://schemas.microsoft.com/office/drawing/2014/main" id="{B418D5E4-1964-4826-6869-BDB50EA75EA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7107715" y="2541707"/>
            <a:ext cx="1613664" cy="13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ige pilforbindelse 73">
            <a:extLst>
              <a:ext uri="{FF2B5EF4-FFF2-40B4-BE49-F238E27FC236}">
                <a16:creationId xmlns:a16="http://schemas.microsoft.com/office/drawing/2014/main" id="{AB2718E1-DC10-2453-65F8-9919F83D6A19}"/>
              </a:ext>
            </a:extLst>
          </p:cNvPr>
          <p:cNvCxnSpPr>
            <a:cxnSpLocks/>
          </p:cNvCxnSpPr>
          <p:nvPr/>
        </p:nvCxnSpPr>
        <p:spPr>
          <a:xfrm>
            <a:off x="9979963" y="3442588"/>
            <a:ext cx="0" cy="49461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ige pilforbindelse 77">
            <a:extLst>
              <a:ext uri="{FF2B5EF4-FFF2-40B4-BE49-F238E27FC236}">
                <a16:creationId xmlns:a16="http://schemas.microsoft.com/office/drawing/2014/main" id="{E474A55A-312A-B216-F2A1-9EC3E33D8177}"/>
              </a:ext>
            </a:extLst>
          </p:cNvPr>
          <p:cNvCxnSpPr>
            <a:cxnSpLocks/>
          </p:cNvCxnSpPr>
          <p:nvPr/>
        </p:nvCxnSpPr>
        <p:spPr>
          <a:xfrm>
            <a:off x="9979963" y="4956271"/>
            <a:ext cx="0" cy="49461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kstfelt 79">
                <a:extLst>
                  <a:ext uri="{FF2B5EF4-FFF2-40B4-BE49-F238E27FC236}">
                    <a16:creationId xmlns:a16="http://schemas.microsoft.com/office/drawing/2014/main" id="{409E4975-C13A-2651-D227-A0A5C2EFFF65}"/>
                  </a:ext>
                </a:extLst>
              </p:cNvPr>
              <p:cNvSpPr txBox="1"/>
              <p:nvPr/>
            </p:nvSpPr>
            <p:spPr>
              <a:xfrm>
                <a:off x="4499316" y="3674976"/>
                <a:ext cx="890815" cy="169277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 sz="11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sSub>
                        <m:sSubPr>
                          <m:ctrlPr>
                            <a:rPr lang="da-DK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da-DK" sz="11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a-DK" sz="11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kstfelt 79">
                <a:extLst>
                  <a:ext uri="{FF2B5EF4-FFF2-40B4-BE49-F238E27FC236}">
                    <a16:creationId xmlns:a16="http://schemas.microsoft.com/office/drawing/2014/main" id="{409E4975-C13A-2651-D227-A0A5C2EFF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316" y="3674976"/>
                <a:ext cx="890815" cy="169277"/>
              </a:xfrm>
              <a:prstGeom prst="rect">
                <a:avLst/>
              </a:prstGeom>
              <a:blipFill>
                <a:blip r:embed="rId4"/>
                <a:stretch>
                  <a:fillRect t="-7143" b="-3571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kstfelt 4">
            <a:extLst>
              <a:ext uri="{FF2B5EF4-FFF2-40B4-BE49-F238E27FC236}">
                <a16:creationId xmlns:a16="http://schemas.microsoft.com/office/drawing/2014/main" id="{1538C7B0-0AF7-074A-56F5-3D2CB007FB5A}"/>
              </a:ext>
            </a:extLst>
          </p:cNvPr>
          <p:cNvSpPr txBox="1"/>
          <p:nvPr/>
        </p:nvSpPr>
        <p:spPr>
          <a:xfrm>
            <a:off x="1891157" y="4025064"/>
            <a:ext cx="1535474" cy="169277"/>
          </a:xfrm>
          <a:prstGeom prst="rect">
            <a:avLst/>
          </a:prstGeom>
          <a:ln w="12700">
            <a:noFill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100" i="1" dirty="0"/>
              <a:t>10-year</a:t>
            </a:r>
            <a:r>
              <a:rPr lang="da-DK" sz="1100" b="0" i="1" dirty="0">
                <a:solidFill>
                  <a:schemeClr val="tx1"/>
                </a:solidFill>
                <a:latin typeface="+mn-lt"/>
              </a:rPr>
              <a:t> lookback</a:t>
            </a:r>
            <a:endParaRPr lang="da-DK" sz="1100" b="0" i="1" baseline="-25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C69E0E1F-9749-7DAA-4DFE-DA78031851E8}"/>
              </a:ext>
            </a:extLst>
          </p:cNvPr>
          <p:cNvSpPr txBox="1"/>
          <p:nvPr/>
        </p:nvSpPr>
        <p:spPr>
          <a:xfrm>
            <a:off x="3252986" y="4492514"/>
            <a:ext cx="1535474" cy="112851"/>
          </a:xfrm>
          <a:prstGeom prst="rect">
            <a:avLst/>
          </a:prstGeom>
          <a:ln w="12700">
            <a:noFill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100" b="1" i="1" baseline="-25000" dirty="0">
                <a:solidFill>
                  <a:schemeClr val="tx1"/>
                </a:solidFill>
                <a:latin typeface="+mn-lt"/>
              </a:rPr>
              <a:t>…</a:t>
            </a:r>
          </a:p>
        </p:txBody>
      </p:sp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F7BCD2A2-0ADB-414A-0C4A-9A4975457E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02096"/>
              </p:ext>
            </p:extLst>
          </p:nvPr>
        </p:nvGraphicFramePr>
        <p:xfrm>
          <a:off x="8864306" y="1877420"/>
          <a:ext cx="2546264" cy="1445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66">
                  <a:extLst>
                    <a:ext uri="{9D8B030D-6E8A-4147-A177-3AD203B41FA5}">
                      <a16:colId xmlns:a16="http://schemas.microsoft.com/office/drawing/2014/main" val="2299403447"/>
                    </a:ext>
                  </a:extLst>
                </a:gridCol>
                <a:gridCol w="636566">
                  <a:extLst>
                    <a:ext uri="{9D8B030D-6E8A-4147-A177-3AD203B41FA5}">
                      <a16:colId xmlns:a16="http://schemas.microsoft.com/office/drawing/2014/main" val="2361487433"/>
                    </a:ext>
                  </a:extLst>
                </a:gridCol>
                <a:gridCol w="636566">
                  <a:extLst>
                    <a:ext uri="{9D8B030D-6E8A-4147-A177-3AD203B41FA5}">
                      <a16:colId xmlns:a16="http://schemas.microsoft.com/office/drawing/2014/main" val="1750202061"/>
                    </a:ext>
                  </a:extLst>
                </a:gridCol>
                <a:gridCol w="636566">
                  <a:extLst>
                    <a:ext uri="{9D8B030D-6E8A-4147-A177-3AD203B41FA5}">
                      <a16:colId xmlns:a16="http://schemas.microsoft.com/office/drawing/2014/main" val="4063096537"/>
                    </a:ext>
                  </a:extLst>
                </a:gridCol>
              </a:tblGrid>
              <a:tr h="481733">
                <a:tc>
                  <a:txBody>
                    <a:bodyPr/>
                    <a:lstStyle/>
                    <a:p>
                      <a:pPr algn="l"/>
                      <a:r>
                        <a:rPr lang="da-DK" sz="800" dirty="0" err="1"/>
                        <a:t>Historic</a:t>
                      </a:r>
                      <a:r>
                        <a:rPr lang="da-DK" sz="800" dirty="0"/>
                        <a:t> </a:t>
                      </a:r>
                    </a:p>
                    <a:p>
                      <a:pPr algn="l"/>
                      <a:r>
                        <a:rPr lang="da-DK" sz="800" dirty="0"/>
                        <a:t>Returns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Regime</a:t>
                      </a:r>
                    </a:p>
                    <a:p>
                      <a:pPr algn="ctr"/>
                      <a:r>
                        <a:rPr lang="da-DK" sz="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800" dirty="0"/>
                        <a:t>Regime</a:t>
                      </a:r>
                    </a:p>
                    <a:p>
                      <a:pPr algn="ctr"/>
                      <a:r>
                        <a:rPr lang="da-DK" sz="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800" dirty="0"/>
                        <a:t>Regime</a:t>
                      </a:r>
                    </a:p>
                    <a:p>
                      <a:pPr algn="ctr"/>
                      <a:r>
                        <a:rPr lang="da-DK" sz="8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974233"/>
                  </a:ext>
                </a:extLst>
              </a:tr>
              <a:tr h="481733">
                <a:tc>
                  <a:txBody>
                    <a:bodyPr/>
                    <a:lstStyle/>
                    <a:p>
                      <a:pPr algn="l"/>
                      <a:r>
                        <a:rPr lang="da-DK" sz="800" dirty="0"/>
                        <a:t>Asset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+2%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+1%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-5%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085817"/>
                  </a:ext>
                </a:extLst>
              </a:tr>
              <a:tr h="481733">
                <a:tc>
                  <a:txBody>
                    <a:bodyPr/>
                    <a:lstStyle/>
                    <a:p>
                      <a:pPr algn="l"/>
                      <a:r>
                        <a:rPr lang="da-DK" sz="800" dirty="0"/>
                        <a:t>Asset2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-5%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 dirty="0"/>
                        <a:t>+3%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247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114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967C348-75ED-9EA2-3CA5-3C4DBA5D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26/11/2025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114F120-8AE5-A5CD-7C51-04691064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13</a:t>
            </a:fld>
            <a:endParaRPr lang="en-GB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573EA77-88A7-6387-1CCE-DDE4C870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Trading </a:t>
            </a:r>
            <a:r>
              <a:rPr lang="da-DK" dirty="0" err="1"/>
              <a:t>strategy</a:t>
            </a:r>
            <a:r>
              <a:rPr lang="da-DK" dirty="0"/>
              <a:t> and </a:t>
            </a:r>
            <a:r>
              <a:rPr lang="da-DK" dirty="0" err="1"/>
              <a:t>backtesting</a:t>
            </a:r>
            <a:r>
              <a:rPr lang="da-DK" dirty="0"/>
              <a:t> (</a:t>
            </a:r>
            <a:r>
              <a:rPr lang="da-DK" dirty="0" err="1"/>
              <a:t>preliminary</a:t>
            </a:r>
            <a:r>
              <a:rPr lang="da-DK" dirty="0"/>
              <a:t> results)</a:t>
            </a:r>
          </a:p>
        </p:txBody>
      </p:sp>
      <p:pic>
        <p:nvPicPr>
          <p:cNvPr id="7" name="Billede 6" descr="Et billede, der indeholder linje/række, Kurve, skibakke&#10;&#10;AI-genereret indhold kan være ukorrekt.">
            <a:extLst>
              <a:ext uri="{FF2B5EF4-FFF2-40B4-BE49-F238E27FC236}">
                <a16:creationId xmlns:a16="http://schemas.microsoft.com/office/drawing/2014/main" id="{4C6BC6BF-42AE-3C56-D0F4-8015D818C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83" y="1628775"/>
            <a:ext cx="8786128" cy="362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8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2067B-F7C9-C171-68D7-41116EC5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5" y="3218944"/>
            <a:ext cx="11012486" cy="864858"/>
          </a:xfrm>
        </p:spPr>
        <p:txBody>
          <a:bodyPr/>
          <a:lstStyle/>
          <a:p>
            <a:pPr algn="ctr"/>
            <a:r>
              <a:rPr lang="da-DK" dirty="0" err="1"/>
              <a:t>Questions</a:t>
            </a:r>
            <a:r>
              <a:rPr lang="da-DK" dirty="0"/>
              <a:t>?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819D1EE-A0F3-D5B8-23AB-348EDF035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8901C-AD74-491C-9322-C106FC5C099A}" type="datetime1">
              <a:rPr lang="en-GB" smtClean="0"/>
              <a:t>28/11/2025</a:t>
            </a:fld>
            <a:endParaRPr lang="en-GB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0B94083-ECD6-835C-E1EA-E64F57CB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377819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øbenhavns Universitet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MO Presentation.potx" id="{E86E73DE-3CE1-4B2B-9714-ED309F798970}" vid="{74277C89-E47B-415D-A5EF-4707ECB154CC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a2630e2-1ac5-455e-8217-0156b1936a76}" enabled="1" method="Standard" siteId="{a3927f91-cda1-4696-af89-8c9f1ceffa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Brugerdefineret design</Template>
  <TotalTime>6058</TotalTime>
  <Words>640</Words>
  <Application>Microsoft Macintosh PowerPoint</Application>
  <PresentationFormat>Widescreen</PresentationFormat>
  <Paragraphs>155</Paragraphs>
  <Slides>14</Slides>
  <Notes>1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19" baseType="lpstr">
      <vt:lpstr>Arial</vt:lpstr>
      <vt:lpstr>Cambria Math</vt:lpstr>
      <vt:lpstr>Microsoft New Tai Lue</vt:lpstr>
      <vt:lpstr>Wingdings</vt:lpstr>
      <vt:lpstr>Brugerdefineret design</vt:lpstr>
      <vt:lpstr>PowerPoint-præsentation</vt:lpstr>
      <vt:lpstr>Introduction</vt:lpstr>
      <vt:lpstr>Agenda </vt:lpstr>
      <vt:lpstr>Change point detection – concept and model </vt:lpstr>
      <vt:lpstr>The Wasserstein Distance</vt:lpstr>
      <vt:lpstr>Self-tuning spectral clustering</vt:lpstr>
      <vt:lpstr>Results – synthetic data (1/2)</vt:lpstr>
      <vt:lpstr>Results – synthetic data (2/2)</vt:lpstr>
      <vt:lpstr>Results – real-world data (1/2)</vt:lpstr>
      <vt:lpstr>Results – real-world data (2/2)</vt:lpstr>
      <vt:lpstr>Trading strategy and backtesting (algorithm)</vt:lpstr>
      <vt:lpstr>Trading strategy and backtesting (algorithm)</vt:lpstr>
      <vt:lpstr>Trading strategy and backtesting (preliminary results)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Johannes Pettersson Bøgh</dc:creator>
  <cp:lastModifiedBy>Felix Johannes Pettersson Bøgh</cp:lastModifiedBy>
  <cp:revision>6</cp:revision>
  <cp:lastPrinted>2025-11-29T21:39:17Z</cp:lastPrinted>
  <dcterms:created xsi:type="dcterms:W3CDTF">2025-11-24T10:57:18Z</dcterms:created>
  <dcterms:modified xsi:type="dcterms:W3CDTF">2025-11-29T21:39:39Z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  <property fmtid="{D5CDD505-2E9C-101B-9397-08002B2CF9AE}" pid="3" name="MSIP_Label_6a2630e2-1ac5-455e-8217-0156b1936a76_Enabled">
    <vt:lpwstr>true</vt:lpwstr>
  </property>
  <property fmtid="{D5CDD505-2E9C-101B-9397-08002B2CF9AE}" pid="4" name="MSIP_Label_6a2630e2-1ac5-455e-8217-0156b1936a76_SetDate">
    <vt:lpwstr>2022-07-05T10:48:46Z</vt:lpwstr>
  </property>
  <property fmtid="{D5CDD505-2E9C-101B-9397-08002B2CF9AE}" pid="5" name="MSIP_Label_6a2630e2-1ac5-455e-8217-0156b1936a76_Method">
    <vt:lpwstr>Standard</vt:lpwstr>
  </property>
  <property fmtid="{D5CDD505-2E9C-101B-9397-08002B2CF9AE}" pid="6" name="MSIP_Label_6a2630e2-1ac5-455e-8217-0156b1936a76_Name">
    <vt:lpwstr>Notclass</vt:lpwstr>
  </property>
  <property fmtid="{D5CDD505-2E9C-101B-9397-08002B2CF9AE}" pid="7" name="MSIP_Label_6a2630e2-1ac5-455e-8217-0156b1936a76_SiteId">
    <vt:lpwstr>a3927f91-cda1-4696-af89-8c9f1ceffa91</vt:lpwstr>
  </property>
  <property fmtid="{D5CDD505-2E9C-101B-9397-08002B2CF9AE}" pid="8" name="MSIP_Label_6a2630e2-1ac5-455e-8217-0156b1936a76_ActionId">
    <vt:lpwstr>d3b4786d-05a4-4d74-a513-6306ec986d4c</vt:lpwstr>
  </property>
  <property fmtid="{D5CDD505-2E9C-101B-9397-08002B2CF9AE}" pid="9" name="MSIP_Label_6a2630e2-1ac5-455e-8217-0156b1936a76_ContentBits">
    <vt:lpwstr>0</vt:lpwstr>
  </property>
</Properties>
</file>